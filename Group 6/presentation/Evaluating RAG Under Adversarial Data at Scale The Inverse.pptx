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png" ContentType="image/pn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5765800" cy="3244850"/>
  <p:notesSz cx="5765800" cy="32448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32435" y="1005903"/>
            <a:ext cx="4900930" cy="68141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Gill Sans MT"/>
                <a:cs typeface="Gill Sans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864870" y="1817116"/>
            <a:ext cx="4036060" cy="8112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July</a:t>
            </a:r>
            <a:r>
              <a:rPr dirty="0" spc="20"/>
              <a:t> </a:t>
            </a:r>
            <a:r>
              <a:rPr dirty="0"/>
              <a:t>22,</a:t>
            </a:r>
            <a:r>
              <a:rPr dirty="0" spc="25"/>
              <a:t> </a:t>
            </a:r>
            <a:r>
              <a:rPr dirty="0" spc="-20"/>
              <a:t>2026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 spc="-10"/>
              <a:t>Nguyen</a:t>
            </a:r>
            <a:r>
              <a:rPr dirty="0" spc="55"/>
              <a:t> </a:t>
            </a:r>
            <a:r>
              <a:rPr dirty="0"/>
              <a:t>et</a:t>
            </a:r>
            <a:r>
              <a:rPr dirty="0" spc="60"/>
              <a:t> </a:t>
            </a:r>
            <a:r>
              <a:rPr dirty="0"/>
              <a:t>al.</a:t>
            </a:r>
            <a:r>
              <a:rPr dirty="0" spc="270"/>
              <a:t> </a:t>
            </a:r>
            <a:r>
              <a:rPr dirty="0"/>
              <a:t>(FPT</a:t>
            </a:r>
            <a:r>
              <a:rPr dirty="0" spc="60"/>
              <a:t> </a:t>
            </a:r>
            <a:r>
              <a:rPr dirty="0" spc="-10"/>
              <a:t>University)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675"/>
              </a:lnSpc>
            </a:pPr>
            <a:fld id="{81D60167-4931-47E6-BA6A-407CBD079E47}" type="slidenum">
              <a:rPr dirty="0" spc="-30"/>
              <a:t>#</a:t>
            </a:fld>
            <a:r>
              <a:rPr dirty="0" spc="-60"/>
              <a:t> </a:t>
            </a:r>
            <a:r>
              <a:rPr dirty="0" spc="150"/>
              <a:t>/</a:t>
            </a:r>
            <a:r>
              <a:rPr dirty="0" spc="-60"/>
              <a:t> </a:t>
            </a:r>
            <a:r>
              <a:rPr dirty="0" spc="-50"/>
              <a:t>9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221087" y="3045573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79" h="30480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4141470" y="3041611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4319272" y="3041611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399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4475618" y="3035261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w="64135" h="50800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w="64135" h="50800">
                <a:moveTo>
                  <a:pt x="20652" y="10160"/>
                </a:moveTo>
                <a:lnTo>
                  <a:pt x="20652" y="0"/>
                </a:lnTo>
                <a:lnTo>
                  <a:pt x="63833" y="0"/>
                </a:lnTo>
                <a:lnTo>
                  <a:pt x="63833" y="30480"/>
                </a:lnTo>
                <a:lnTo>
                  <a:pt x="53672" y="304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4412450" y="3041611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4772318" y="3047961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 h="0">
                <a:moveTo>
                  <a:pt x="0" y="0"/>
                </a:moveTo>
                <a:lnTo>
                  <a:pt x="38101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4683417" y="3041611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bg object 23"/>
          <p:cNvSpPr/>
          <p:nvPr/>
        </p:nvSpPr>
        <p:spPr>
          <a:xfrm>
            <a:off x="4759618" y="3035261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25400"/>
                </a:moveTo>
                <a:lnTo>
                  <a:pt x="50801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1" y="5080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bg object 24"/>
          <p:cNvSpPr/>
          <p:nvPr/>
        </p:nvSpPr>
        <p:spPr>
          <a:xfrm>
            <a:off x="5030598" y="3035261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>
                <a:moveTo>
                  <a:pt x="0" y="0"/>
                </a:moveTo>
                <a:lnTo>
                  <a:pt x="38100" y="0"/>
                </a:lnTo>
              </a:path>
              <a:path w="50800" h="25400">
                <a:moveTo>
                  <a:pt x="12700" y="12700"/>
                </a:moveTo>
                <a:lnTo>
                  <a:pt x="50801" y="12700"/>
                </a:lnTo>
              </a:path>
              <a:path w="50800" h="25400">
                <a:moveTo>
                  <a:pt x="12700" y="25400"/>
                </a:moveTo>
                <a:lnTo>
                  <a:pt x="50801" y="254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bg object 25"/>
          <p:cNvSpPr/>
          <p:nvPr/>
        </p:nvSpPr>
        <p:spPr>
          <a:xfrm>
            <a:off x="4954397" y="3041611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bg object 26"/>
          <p:cNvSpPr/>
          <p:nvPr/>
        </p:nvSpPr>
        <p:spPr>
          <a:xfrm>
            <a:off x="5030598" y="3073361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0" y="0"/>
                </a:moveTo>
                <a:lnTo>
                  <a:pt x="38100" y="0"/>
                </a:lnTo>
              </a:path>
              <a:path w="50800" h="12700">
                <a:moveTo>
                  <a:pt x="12700" y="12700"/>
                </a:moveTo>
                <a:lnTo>
                  <a:pt x="50801" y="1270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bg object 27"/>
          <p:cNvSpPr/>
          <p:nvPr/>
        </p:nvSpPr>
        <p:spPr>
          <a:xfrm>
            <a:off x="5301577" y="3035261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1" y="12700"/>
                </a:lnTo>
              </a:path>
              <a:path w="50800" h="50800">
                <a:moveTo>
                  <a:pt x="12700" y="25400"/>
                </a:moveTo>
                <a:lnTo>
                  <a:pt x="50801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1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bg object 28"/>
          <p:cNvSpPr/>
          <p:nvPr/>
        </p:nvSpPr>
        <p:spPr>
          <a:xfrm>
            <a:off x="5603025" y="3065741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19">
                <a:moveTo>
                  <a:pt x="0" y="0"/>
                </a:moveTo>
                <a:lnTo>
                  <a:pt x="20321" y="2032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bg object 29"/>
          <p:cNvSpPr/>
          <p:nvPr/>
        </p:nvSpPr>
        <p:spPr>
          <a:xfrm>
            <a:off x="5575961" y="3039246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80">
                <a:moveTo>
                  <a:pt x="30367" y="15183"/>
                </a:moveTo>
                <a:lnTo>
                  <a:pt x="30367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7" y="23568"/>
                </a:lnTo>
                <a:lnTo>
                  <a:pt x="30367" y="15183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bg object 30"/>
          <p:cNvSpPr/>
          <p:nvPr/>
        </p:nvSpPr>
        <p:spPr>
          <a:xfrm>
            <a:off x="5481104" y="3035261"/>
            <a:ext cx="233679" cy="50800"/>
          </a:xfrm>
          <a:custGeom>
            <a:avLst/>
            <a:gdLst/>
            <a:ahLst/>
            <a:cxnLst/>
            <a:rect l="l" t="t" r="r" b="b"/>
            <a:pathLst>
              <a:path w="233679" h="50800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w="233679" h="50800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w="233679" h="50800">
                <a:moveTo>
                  <a:pt x="193042" y="50800"/>
                </a:moveTo>
                <a:lnTo>
                  <a:pt x="183180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80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w="233679" h="50800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bg object 31"/>
          <p:cNvSpPr/>
          <p:nvPr/>
        </p:nvSpPr>
        <p:spPr>
          <a:xfrm>
            <a:off x="0" y="-12"/>
            <a:ext cx="5760085" cy="350520"/>
          </a:xfrm>
          <a:custGeom>
            <a:avLst/>
            <a:gdLst/>
            <a:ahLst/>
            <a:cxnLst/>
            <a:rect l="l" t="t" r="r" b="b"/>
            <a:pathLst>
              <a:path w="5760085" h="350520">
                <a:moveTo>
                  <a:pt x="5759996" y="0"/>
                </a:moveTo>
                <a:lnTo>
                  <a:pt x="0" y="0"/>
                </a:lnTo>
                <a:lnTo>
                  <a:pt x="0" y="350126"/>
                </a:lnTo>
                <a:lnTo>
                  <a:pt x="5759996" y="350126"/>
                </a:lnTo>
                <a:lnTo>
                  <a:pt x="5759996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Gill Sans MT"/>
                <a:cs typeface="Gill Sans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July</a:t>
            </a:r>
            <a:r>
              <a:rPr dirty="0" spc="20"/>
              <a:t> </a:t>
            </a:r>
            <a:r>
              <a:rPr dirty="0"/>
              <a:t>22,</a:t>
            </a:r>
            <a:r>
              <a:rPr dirty="0" spc="25"/>
              <a:t> </a:t>
            </a:r>
            <a:r>
              <a:rPr dirty="0" spc="-20"/>
              <a:t>2026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 spc="-10"/>
              <a:t>Nguyen</a:t>
            </a:r>
            <a:r>
              <a:rPr dirty="0" spc="55"/>
              <a:t> </a:t>
            </a:r>
            <a:r>
              <a:rPr dirty="0"/>
              <a:t>et</a:t>
            </a:r>
            <a:r>
              <a:rPr dirty="0" spc="60"/>
              <a:t> </a:t>
            </a:r>
            <a:r>
              <a:rPr dirty="0"/>
              <a:t>al.</a:t>
            </a:r>
            <a:r>
              <a:rPr dirty="0" spc="270"/>
              <a:t> </a:t>
            </a:r>
            <a:r>
              <a:rPr dirty="0"/>
              <a:t>(FPT</a:t>
            </a:r>
            <a:r>
              <a:rPr dirty="0" spc="60"/>
              <a:t> </a:t>
            </a:r>
            <a:r>
              <a:rPr dirty="0" spc="-10"/>
              <a:t>University)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675"/>
              </a:lnSpc>
            </a:pPr>
            <a:fld id="{81D60167-4931-47E6-BA6A-407CBD079E47}" type="slidenum">
              <a:rPr dirty="0" spc="-30"/>
              <a:t>#</a:t>
            </a:fld>
            <a:r>
              <a:rPr dirty="0" spc="-60"/>
              <a:t> </a:t>
            </a:r>
            <a:r>
              <a:rPr dirty="0" spc="150"/>
              <a:t>/</a:t>
            </a:r>
            <a:r>
              <a:rPr dirty="0" spc="-60"/>
              <a:t> </a:t>
            </a:r>
            <a:r>
              <a:rPr dirty="0" spc="-50"/>
              <a:t>9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Gill Sans MT"/>
                <a:cs typeface="Gill Sans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288290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2969387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July</a:t>
            </a:r>
            <a:r>
              <a:rPr dirty="0" spc="20"/>
              <a:t> </a:t>
            </a:r>
            <a:r>
              <a:rPr dirty="0"/>
              <a:t>22,</a:t>
            </a:r>
            <a:r>
              <a:rPr dirty="0" spc="25"/>
              <a:t> </a:t>
            </a:r>
            <a:r>
              <a:rPr dirty="0" spc="-20"/>
              <a:t>2026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 spc="-10"/>
              <a:t>Nguyen</a:t>
            </a:r>
            <a:r>
              <a:rPr dirty="0" spc="55"/>
              <a:t> </a:t>
            </a:r>
            <a:r>
              <a:rPr dirty="0"/>
              <a:t>et</a:t>
            </a:r>
            <a:r>
              <a:rPr dirty="0" spc="60"/>
              <a:t> </a:t>
            </a:r>
            <a:r>
              <a:rPr dirty="0"/>
              <a:t>al.</a:t>
            </a:r>
            <a:r>
              <a:rPr dirty="0" spc="270"/>
              <a:t> </a:t>
            </a:r>
            <a:r>
              <a:rPr dirty="0"/>
              <a:t>(FPT</a:t>
            </a:r>
            <a:r>
              <a:rPr dirty="0" spc="60"/>
              <a:t> </a:t>
            </a:r>
            <a:r>
              <a:rPr dirty="0" spc="-10"/>
              <a:t>University)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675"/>
              </a:lnSpc>
            </a:pPr>
            <a:fld id="{81D60167-4931-47E6-BA6A-407CBD079E47}" type="slidenum">
              <a:rPr dirty="0" spc="-30"/>
              <a:t>#</a:t>
            </a:fld>
            <a:r>
              <a:rPr dirty="0" spc="-60"/>
              <a:t> </a:t>
            </a:r>
            <a:r>
              <a:rPr dirty="0" spc="150"/>
              <a:t>/</a:t>
            </a:r>
            <a:r>
              <a:rPr dirty="0" spc="-60"/>
              <a:t> </a:t>
            </a:r>
            <a:r>
              <a:rPr dirty="0" spc="-50"/>
              <a:t>9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Gill Sans MT"/>
                <a:cs typeface="Gill Sans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July</a:t>
            </a:r>
            <a:r>
              <a:rPr dirty="0" spc="20"/>
              <a:t> </a:t>
            </a:r>
            <a:r>
              <a:rPr dirty="0"/>
              <a:t>22,</a:t>
            </a:r>
            <a:r>
              <a:rPr dirty="0" spc="25"/>
              <a:t> </a:t>
            </a:r>
            <a:r>
              <a:rPr dirty="0" spc="-20"/>
              <a:t>2026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 spc="-10"/>
              <a:t>Nguyen</a:t>
            </a:r>
            <a:r>
              <a:rPr dirty="0" spc="55"/>
              <a:t> </a:t>
            </a:r>
            <a:r>
              <a:rPr dirty="0"/>
              <a:t>et</a:t>
            </a:r>
            <a:r>
              <a:rPr dirty="0" spc="60"/>
              <a:t> </a:t>
            </a:r>
            <a:r>
              <a:rPr dirty="0"/>
              <a:t>al.</a:t>
            </a:r>
            <a:r>
              <a:rPr dirty="0" spc="270"/>
              <a:t> </a:t>
            </a:r>
            <a:r>
              <a:rPr dirty="0"/>
              <a:t>(FPT</a:t>
            </a:r>
            <a:r>
              <a:rPr dirty="0" spc="60"/>
              <a:t> </a:t>
            </a:r>
            <a:r>
              <a:rPr dirty="0" spc="-10"/>
              <a:t>University)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675"/>
              </a:lnSpc>
            </a:pPr>
            <a:fld id="{81D60167-4931-47E6-BA6A-407CBD079E47}" type="slidenum">
              <a:rPr dirty="0" spc="-30"/>
              <a:t>#</a:t>
            </a:fld>
            <a:r>
              <a:rPr dirty="0" spc="-60"/>
              <a:t> </a:t>
            </a:r>
            <a:r>
              <a:rPr dirty="0" spc="150"/>
              <a:t>/</a:t>
            </a:r>
            <a:r>
              <a:rPr dirty="0" spc="-60"/>
              <a:t> </a:t>
            </a:r>
            <a:r>
              <a:rPr dirty="0" spc="-50"/>
              <a:t>9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221087" y="3045573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79" h="30480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4141470" y="3041611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4319272" y="3041611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399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4475618" y="3035261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w="64135" h="50800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w="64135" h="50800">
                <a:moveTo>
                  <a:pt x="20652" y="10160"/>
                </a:moveTo>
                <a:lnTo>
                  <a:pt x="20652" y="0"/>
                </a:lnTo>
                <a:lnTo>
                  <a:pt x="63833" y="0"/>
                </a:lnTo>
                <a:lnTo>
                  <a:pt x="63833" y="30480"/>
                </a:lnTo>
                <a:lnTo>
                  <a:pt x="53672" y="304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4412450" y="3041611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4772318" y="3047961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 h="0">
                <a:moveTo>
                  <a:pt x="0" y="0"/>
                </a:moveTo>
                <a:lnTo>
                  <a:pt x="38101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4683417" y="3041611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bg object 23"/>
          <p:cNvSpPr/>
          <p:nvPr/>
        </p:nvSpPr>
        <p:spPr>
          <a:xfrm>
            <a:off x="4759618" y="3035261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25400"/>
                </a:moveTo>
                <a:lnTo>
                  <a:pt x="50801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1" y="5080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bg object 24"/>
          <p:cNvSpPr/>
          <p:nvPr/>
        </p:nvSpPr>
        <p:spPr>
          <a:xfrm>
            <a:off x="5030598" y="3035261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>
                <a:moveTo>
                  <a:pt x="0" y="0"/>
                </a:moveTo>
                <a:lnTo>
                  <a:pt x="38100" y="0"/>
                </a:lnTo>
              </a:path>
              <a:path w="50800" h="25400">
                <a:moveTo>
                  <a:pt x="12700" y="12700"/>
                </a:moveTo>
                <a:lnTo>
                  <a:pt x="50801" y="12700"/>
                </a:lnTo>
              </a:path>
              <a:path w="50800" h="25400">
                <a:moveTo>
                  <a:pt x="12700" y="25400"/>
                </a:moveTo>
                <a:lnTo>
                  <a:pt x="50801" y="254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bg object 25"/>
          <p:cNvSpPr/>
          <p:nvPr/>
        </p:nvSpPr>
        <p:spPr>
          <a:xfrm>
            <a:off x="4954397" y="3041611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bg object 26"/>
          <p:cNvSpPr/>
          <p:nvPr/>
        </p:nvSpPr>
        <p:spPr>
          <a:xfrm>
            <a:off x="5030598" y="3073361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0" y="0"/>
                </a:moveTo>
                <a:lnTo>
                  <a:pt x="38100" y="0"/>
                </a:lnTo>
              </a:path>
              <a:path w="50800" h="12700">
                <a:moveTo>
                  <a:pt x="12700" y="12700"/>
                </a:moveTo>
                <a:lnTo>
                  <a:pt x="50801" y="1270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bg object 27"/>
          <p:cNvSpPr/>
          <p:nvPr/>
        </p:nvSpPr>
        <p:spPr>
          <a:xfrm>
            <a:off x="5301577" y="3035261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1" y="12700"/>
                </a:lnTo>
              </a:path>
              <a:path w="50800" h="50800">
                <a:moveTo>
                  <a:pt x="12700" y="25400"/>
                </a:moveTo>
                <a:lnTo>
                  <a:pt x="50801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1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bg object 28"/>
          <p:cNvSpPr/>
          <p:nvPr/>
        </p:nvSpPr>
        <p:spPr>
          <a:xfrm>
            <a:off x="5603025" y="3065741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19">
                <a:moveTo>
                  <a:pt x="0" y="0"/>
                </a:moveTo>
                <a:lnTo>
                  <a:pt x="20321" y="2032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bg object 29"/>
          <p:cNvSpPr/>
          <p:nvPr/>
        </p:nvSpPr>
        <p:spPr>
          <a:xfrm>
            <a:off x="5575961" y="3039246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80">
                <a:moveTo>
                  <a:pt x="30367" y="15183"/>
                </a:moveTo>
                <a:lnTo>
                  <a:pt x="30367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7" y="23568"/>
                </a:lnTo>
                <a:lnTo>
                  <a:pt x="30367" y="15183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bg object 30"/>
          <p:cNvSpPr/>
          <p:nvPr/>
        </p:nvSpPr>
        <p:spPr>
          <a:xfrm>
            <a:off x="5481104" y="3035261"/>
            <a:ext cx="233679" cy="50800"/>
          </a:xfrm>
          <a:custGeom>
            <a:avLst/>
            <a:gdLst/>
            <a:ahLst/>
            <a:cxnLst/>
            <a:rect l="l" t="t" r="r" b="b"/>
            <a:pathLst>
              <a:path w="233679" h="50800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w="233679" h="50800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w="233679" h="50800">
                <a:moveTo>
                  <a:pt x="193042" y="50800"/>
                </a:moveTo>
                <a:lnTo>
                  <a:pt x="183180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80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w="233679" h="50800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bg object 31"/>
          <p:cNvSpPr/>
          <p:nvPr/>
        </p:nvSpPr>
        <p:spPr>
          <a:xfrm>
            <a:off x="87743" y="475335"/>
            <a:ext cx="5584825" cy="82550"/>
          </a:xfrm>
          <a:custGeom>
            <a:avLst/>
            <a:gdLst/>
            <a:ahLst/>
            <a:cxnLst/>
            <a:rect l="l" t="t" r="r" b="b"/>
            <a:pathLst>
              <a:path w="5584825" h="82550">
                <a:moveTo>
                  <a:pt x="5533784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82384"/>
                </a:lnTo>
                <a:lnTo>
                  <a:pt x="5584584" y="82384"/>
                </a:lnTo>
                <a:lnTo>
                  <a:pt x="5584584" y="50800"/>
                </a:lnTo>
                <a:lnTo>
                  <a:pt x="5580575" y="31075"/>
                </a:lnTo>
                <a:lnTo>
                  <a:pt x="5569661" y="14922"/>
                </a:lnTo>
                <a:lnTo>
                  <a:pt x="5553509" y="4008"/>
                </a:lnTo>
                <a:lnTo>
                  <a:pt x="553378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bg object 32"/>
          <p:cNvSpPr/>
          <p:nvPr/>
        </p:nvSpPr>
        <p:spPr>
          <a:xfrm>
            <a:off x="138544" y="538588"/>
            <a:ext cx="5584825" cy="846455"/>
          </a:xfrm>
          <a:custGeom>
            <a:avLst/>
            <a:gdLst/>
            <a:ahLst/>
            <a:cxnLst/>
            <a:rect l="l" t="t" r="r" b="b"/>
            <a:pathLst>
              <a:path w="5584825" h="846455">
                <a:moveTo>
                  <a:pt x="5584583" y="0"/>
                </a:moveTo>
                <a:lnTo>
                  <a:pt x="0" y="0"/>
                </a:lnTo>
                <a:lnTo>
                  <a:pt x="0" y="846359"/>
                </a:lnTo>
                <a:lnTo>
                  <a:pt x="5584583" y="846359"/>
                </a:lnTo>
                <a:lnTo>
                  <a:pt x="558458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bg object 33"/>
          <p:cNvSpPr/>
          <p:nvPr/>
        </p:nvSpPr>
        <p:spPr>
          <a:xfrm>
            <a:off x="87743" y="519751"/>
            <a:ext cx="5584825" cy="814705"/>
          </a:xfrm>
          <a:custGeom>
            <a:avLst/>
            <a:gdLst/>
            <a:ahLst/>
            <a:cxnLst/>
            <a:rect l="l" t="t" r="r" b="b"/>
            <a:pathLst>
              <a:path w="5584825" h="814705">
                <a:moveTo>
                  <a:pt x="5584584" y="0"/>
                </a:moveTo>
                <a:lnTo>
                  <a:pt x="0" y="0"/>
                </a:lnTo>
                <a:lnTo>
                  <a:pt x="0" y="763596"/>
                </a:lnTo>
                <a:lnTo>
                  <a:pt x="4008" y="783321"/>
                </a:lnTo>
                <a:lnTo>
                  <a:pt x="14922" y="799474"/>
                </a:lnTo>
                <a:lnTo>
                  <a:pt x="31075" y="810388"/>
                </a:lnTo>
                <a:lnTo>
                  <a:pt x="50800" y="814396"/>
                </a:lnTo>
                <a:lnTo>
                  <a:pt x="5533784" y="814396"/>
                </a:lnTo>
                <a:lnTo>
                  <a:pt x="5553509" y="810388"/>
                </a:lnTo>
                <a:lnTo>
                  <a:pt x="5569661" y="799474"/>
                </a:lnTo>
                <a:lnTo>
                  <a:pt x="5580575" y="783321"/>
                </a:lnTo>
                <a:lnTo>
                  <a:pt x="5584584" y="763596"/>
                </a:lnTo>
                <a:lnTo>
                  <a:pt x="558458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July</a:t>
            </a:r>
            <a:r>
              <a:rPr dirty="0" spc="20"/>
              <a:t> </a:t>
            </a:r>
            <a:r>
              <a:rPr dirty="0"/>
              <a:t>22,</a:t>
            </a:r>
            <a:r>
              <a:rPr dirty="0" spc="25"/>
              <a:t> </a:t>
            </a:r>
            <a:r>
              <a:rPr dirty="0" spc="-20"/>
              <a:t>2026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 spc="-10"/>
              <a:t>Nguyen</a:t>
            </a:r>
            <a:r>
              <a:rPr dirty="0" spc="55"/>
              <a:t> </a:t>
            </a:r>
            <a:r>
              <a:rPr dirty="0"/>
              <a:t>et</a:t>
            </a:r>
            <a:r>
              <a:rPr dirty="0" spc="60"/>
              <a:t> </a:t>
            </a:r>
            <a:r>
              <a:rPr dirty="0"/>
              <a:t>al.</a:t>
            </a:r>
            <a:r>
              <a:rPr dirty="0" spc="270"/>
              <a:t> </a:t>
            </a:r>
            <a:r>
              <a:rPr dirty="0"/>
              <a:t>(FPT</a:t>
            </a:r>
            <a:r>
              <a:rPr dirty="0" spc="60"/>
              <a:t> </a:t>
            </a:r>
            <a:r>
              <a:rPr dirty="0" spc="-10"/>
              <a:t>University)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675"/>
              </a:lnSpc>
            </a:pPr>
            <a:fld id="{81D60167-4931-47E6-BA6A-407CBD079E47}" type="slidenum">
              <a:rPr dirty="0" spc="-30"/>
              <a:t>#</a:t>
            </a:fld>
            <a:r>
              <a:rPr dirty="0" spc="-60"/>
              <a:t> </a:t>
            </a:r>
            <a:r>
              <a:rPr dirty="0" spc="150"/>
              <a:t>/</a:t>
            </a:r>
            <a:r>
              <a:rPr dirty="0" spc="-60"/>
              <a:t> </a:t>
            </a:r>
            <a:r>
              <a:rPr dirty="0" spc="-50"/>
              <a:t>9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221087" y="3045573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79" h="30480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4141470" y="3041611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4319272" y="3041611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399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4475618" y="3035261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w="64135" h="50800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w="64135" h="50800">
                <a:moveTo>
                  <a:pt x="20652" y="10160"/>
                </a:moveTo>
                <a:lnTo>
                  <a:pt x="20652" y="0"/>
                </a:lnTo>
                <a:lnTo>
                  <a:pt x="63833" y="0"/>
                </a:lnTo>
                <a:lnTo>
                  <a:pt x="63833" y="30480"/>
                </a:lnTo>
                <a:lnTo>
                  <a:pt x="53672" y="304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4412450" y="3041611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4772318" y="3047961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 h="0">
                <a:moveTo>
                  <a:pt x="0" y="0"/>
                </a:moveTo>
                <a:lnTo>
                  <a:pt x="38101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4683417" y="3041611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bg object 23"/>
          <p:cNvSpPr/>
          <p:nvPr/>
        </p:nvSpPr>
        <p:spPr>
          <a:xfrm>
            <a:off x="4759618" y="3035261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25400"/>
                </a:moveTo>
                <a:lnTo>
                  <a:pt x="50801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1" y="5080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bg object 24"/>
          <p:cNvSpPr/>
          <p:nvPr/>
        </p:nvSpPr>
        <p:spPr>
          <a:xfrm>
            <a:off x="5030598" y="3035261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>
                <a:moveTo>
                  <a:pt x="0" y="0"/>
                </a:moveTo>
                <a:lnTo>
                  <a:pt x="38100" y="0"/>
                </a:lnTo>
              </a:path>
              <a:path w="50800" h="25400">
                <a:moveTo>
                  <a:pt x="12700" y="12700"/>
                </a:moveTo>
                <a:lnTo>
                  <a:pt x="50801" y="12700"/>
                </a:lnTo>
              </a:path>
              <a:path w="50800" h="25400">
                <a:moveTo>
                  <a:pt x="12700" y="25400"/>
                </a:moveTo>
                <a:lnTo>
                  <a:pt x="50801" y="254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bg object 25"/>
          <p:cNvSpPr/>
          <p:nvPr/>
        </p:nvSpPr>
        <p:spPr>
          <a:xfrm>
            <a:off x="4954397" y="3041611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bg object 26"/>
          <p:cNvSpPr/>
          <p:nvPr/>
        </p:nvSpPr>
        <p:spPr>
          <a:xfrm>
            <a:off x="5030598" y="3073361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0" y="0"/>
                </a:moveTo>
                <a:lnTo>
                  <a:pt x="38100" y="0"/>
                </a:lnTo>
              </a:path>
              <a:path w="50800" h="12700">
                <a:moveTo>
                  <a:pt x="12700" y="12700"/>
                </a:moveTo>
                <a:lnTo>
                  <a:pt x="50801" y="1270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bg object 27"/>
          <p:cNvSpPr/>
          <p:nvPr/>
        </p:nvSpPr>
        <p:spPr>
          <a:xfrm>
            <a:off x="5301577" y="3035261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1" y="12700"/>
                </a:lnTo>
              </a:path>
              <a:path w="50800" h="50800">
                <a:moveTo>
                  <a:pt x="12700" y="25400"/>
                </a:moveTo>
                <a:lnTo>
                  <a:pt x="50801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1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bg object 28"/>
          <p:cNvSpPr/>
          <p:nvPr/>
        </p:nvSpPr>
        <p:spPr>
          <a:xfrm>
            <a:off x="5603025" y="3065741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19">
                <a:moveTo>
                  <a:pt x="0" y="0"/>
                </a:moveTo>
                <a:lnTo>
                  <a:pt x="20321" y="2032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bg object 29"/>
          <p:cNvSpPr/>
          <p:nvPr/>
        </p:nvSpPr>
        <p:spPr>
          <a:xfrm>
            <a:off x="5575961" y="3039246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80">
                <a:moveTo>
                  <a:pt x="30367" y="15183"/>
                </a:moveTo>
                <a:lnTo>
                  <a:pt x="30367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7" y="23568"/>
                </a:lnTo>
                <a:lnTo>
                  <a:pt x="30367" y="15183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bg object 30"/>
          <p:cNvSpPr/>
          <p:nvPr/>
        </p:nvSpPr>
        <p:spPr>
          <a:xfrm>
            <a:off x="5481104" y="3035261"/>
            <a:ext cx="233679" cy="50800"/>
          </a:xfrm>
          <a:custGeom>
            <a:avLst/>
            <a:gdLst/>
            <a:ahLst/>
            <a:cxnLst/>
            <a:rect l="l" t="t" r="r" b="b"/>
            <a:pathLst>
              <a:path w="233679" h="50800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w="233679" h="50800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w="233679" h="50800">
                <a:moveTo>
                  <a:pt x="193042" y="50800"/>
                </a:moveTo>
                <a:lnTo>
                  <a:pt x="183180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80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w="233679" h="50800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300" y="59877"/>
            <a:ext cx="4092575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Gill Sans MT"/>
                <a:cs typeface="Gill Sans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02932" y="638389"/>
            <a:ext cx="5071110" cy="20847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486122" y="3135783"/>
            <a:ext cx="480060" cy="102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July</a:t>
            </a:r>
            <a:r>
              <a:rPr dirty="0" spc="20"/>
              <a:t> </a:t>
            </a:r>
            <a:r>
              <a:rPr dirty="0"/>
              <a:t>22,</a:t>
            </a:r>
            <a:r>
              <a:rPr dirty="0" spc="25"/>
              <a:t> </a:t>
            </a:r>
            <a:r>
              <a:rPr dirty="0" spc="-20"/>
              <a:t>2026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08457" y="3135783"/>
            <a:ext cx="1103630" cy="102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 spc="-10"/>
              <a:t>Nguyen</a:t>
            </a:r>
            <a:r>
              <a:rPr dirty="0" spc="55"/>
              <a:t> </a:t>
            </a:r>
            <a:r>
              <a:rPr dirty="0"/>
              <a:t>et</a:t>
            </a:r>
            <a:r>
              <a:rPr dirty="0" spc="60"/>
              <a:t> </a:t>
            </a:r>
            <a:r>
              <a:rPr dirty="0"/>
              <a:t>al.</a:t>
            </a:r>
            <a:r>
              <a:rPr dirty="0" spc="270"/>
              <a:t> </a:t>
            </a:r>
            <a:r>
              <a:rPr dirty="0"/>
              <a:t>(FPT</a:t>
            </a:r>
            <a:r>
              <a:rPr dirty="0" spc="60"/>
              <a:t> </a:t>
            </a:r>
            <a:r>
              <a:rPr dirty="0" spc="-10"/>
              <a:t>University)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506451" y="3135783"/>
            <a:ext cx="198754" cy="102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675"/>
              </a:lnSpc>
            </a:pPr>
            <a:fld id="{81D60167-4931-47E6-BA6A-407CBD079E47}" type="slidenum">
              <a:rPr dirty="0" spc="-30"/>
              <a:t>#</a:t>
            </a:fld>
            <a:r>
              <a:rPr dirty="0" spc="-60"/>
              <a:t> </a:t>
            </a:r>
            <a:r>
              <a:rPr dirty="0" spc="150"/>
              <a:t>/</a:t>
            </a:r>
            <a:r>
              <a:rPr dirty="0" spc="-60"/>
              <a:t> </a:t>
            </a:r>
            <a:r>
              <a:rPr dirty="0" spc="-50"/>
              <a:t>9</a:t>
            </a:r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9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slide" Target="slide9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slide" Target="slide9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slide" Target="slide9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9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slide" Target="slide9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slide" Target="slide9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Relationship Id="rId7" Type="http://schemas.openxmlformats.org/officeDocument/2006/relationships/image" Target="../media/image28.png"/><Relationship Id="rId8" Type="http://schemas.openxmlformats.org/officeDocument/2006/relationships/slide" Target="slide9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slide" Target="slide9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8544" y="538588"/>
            <a:ext cx="5584825" cy="846455"/>
          </a:xfrm>
          <a:prstGeom prst="rect">
            <a:avLst/>
          </a:prstGeom>
        </p:spPr>
        <p:txBody>
          <a:bodyPr wrap="square" lIns="0" tIns="56515" rIns="0" bIns="0" rtlCol="0" vert="horz">
            <a:spAutoFit/>
          </a:bodyPr>
          <a:lstStyle/>
          <a:p>
            <a:pPr algn="ctr" marR="93345">
              <a:lnSpc>
                <a:spcPct val="100000"/>
              </a:lnSpc>
              <a:spcBef>
                <a:spcPts val="445"/>
              </a:spcBef>
            </a:pPr>
            <a:r>
              <a:rPr dirty="0" sz="1400" spc="50">
                <a:solidFill>
                  <a:srgbClr val="FFFFFF"/>
                </a:solidFill>
                <a:latin typeface="Gill Sans MT"/>
                <a:cs typeface="Gill Sans MT"/>
              </a:rPr>
              <a:t>Evaluating</a:t>
            </a:r>
            <a:r>
              <a:rPr dirty="0" sz="1400" spc="45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dirty="0" sz="1400">
                <a:solidFill>
                  <a:srgbClr val="FFFFFF"/>
                </a:solidFill>
                <a:latin typeface="Gill Sans MT"/>
                <a:cs typeface="Gill Sans MT"/>
              </a:rPr>
              <a:t>RAG</a:t>
            </a:r>
            <a:r>
              <a:rPr dirty="0" sz="1400" spc="45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dirty="0" sz="1400">
                <a:solidFill>
                  <a:srgbClr val="FFFFFF"/>
                </a:solidFill>
                <a:latin typeface="Gill Sans MT"/>
                <a:cs typeface="Gill Sans MT"/>
              </a:rPr>
              <a:t>Under</a:t>
            </a:r>
            <a:r>
              <a:rPr dirty="0" sz="1400" spc="45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dirty="0" sz="1400">
                <a:solidFill>
                  <a:srgbClr val="FFFFFF"/>
                </a:solidFill>
                <a:latin typeface="Gill Sans MT"/>
                <a:cs typeface="Gill Sans MT"/>
              </a:rPr>
              <a:t>Adversarial</a:t>
            </a:r>
            <a:r>
              <a:rPr dirty="0" sz="1400" spc="45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dirty="0" sz="1400">
                <a:solidFill>
                  <a:srgbClr val="FFFFFF"/>
                </a:solidFill>
                <a:latin typeface="Gill Sans MT"/>
                <a:cs typeface="Gill Sans MT"/>
              </a:rPr>
              <a:t>Data</a:t>
            </a:r>
            <a:r>
              <a:rPr dirty="0" sz="1400" spc="50">
                <a:solidFill>
                  <a:srgbClr val="FFFFFF"/>
                </a:solidFill>
                <a:latin typeface="Gill Sans MT"/>
                <a:cs typeface="Gill Sans MT"/>
              </a:rPr>
              <a:t> at</a:t>
            </a:r>
            <a:r>
              <a:rPr dirty="0" sz="1400" spc="45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Gill Sans MT"/>
                <a:cs typeface="Gill Sans MT"/>
              </a:rPr>
              <a:t>Scale</a:t>
            </a:r>
            <a:endParaRPr sz="1400">
              <a:latin typeface="Gill Sans MT"/>
              <a:cs typeface="Gill Sans MT"/>
            </a:endParaRPr>
          </a:p>
          <a:p>
            <a:pPr algn="ctr" marL="1369060" marR="1464310">
              <a:lnSpc>
                <a:spcPct val="102600"/>
              </a:lnSpc>
              <a:spcBef>
                <a:spcPts val="290"/>
              </a:spcBef>
            </a:pPr>
            <a:r>
              <a:rPr dirty="0" sz="110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dirty="0" sz="1100" spc="-5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100" spc="-75">
                <a:solidFill>
                  <a:srgbClr val="FFFFFF"/>
                </a:solidFill>
                <a:latin typeface="Tahoma"/>
                <a:cs typeface="Tahoma"/>
              </a:rPr>
              <a:t>Inverse</a:t>
            </a:r>
            <a:r>
              <a:rPr dirty="0" sz="1100" spc="-1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100" spc="-20">
                <a:solidFill>
                  <a:srgbClr val="FFFFFF"/>
                </a:solidFill>
                <a:latin typeface="Tahoma"/>
                <a:cs typeface="Tahoma"/>
              </a:rPr>
              <a:t>Scaling</a:t>
            </a:r>
            <a:r>
              <a:rPr dirty="0" sz="1100" spc="-3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Tahoma"/>
                <a:cs typeface="Tahoma"/>
              </a:rPr>
              <a:t>Law</a:t>
            </a:r>
            <a:r>
              <a:rPr dirty="0" sz="1100" spc="-4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FFFFFF"/>
                </a:solidFill>
                <a:latin typeface="Tahoma"/>
                <a:cs typeface="Tahoma"/>
              </a:rPr>
              <a:t>of</a:t>
            </a:r>
            <a:r>
              <a:rPr dirty="0" sz="1100" spc="-3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100" spc="-25">
                <a:solidFill>
                  <a:srgbClr val="FFFFFF"/>
                </a:solidFill>
                <a:latin typeface="Tahoma"/>
                <a:cs typeface="Tahoma"/>
              </a:rPr>
              <a:t>Semantic</a:t>
            </a:r>
            <a:r>
              <a:rPr dirty="0" sz="1100" spc="-3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100" spc="-35">
                <a:solidFill>
                  <a:srgbClr val="FFFFFF"/>
                </a:solidFill>
                <a:latin typeface="Tahoma"/>
                <a:cs typeface="Tahoma"/>
              </a:rPr>
              <a:t>Poisoning and </a:t>
            </a:r>
            <a:r>
              <a:rPr dirty="0" sz="1100" spc="-1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dirty="0" sz="1100" spc="-3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100" spc="-30">
                <a:solidFill>
                  <a:srgbClr val="FFFFFF"/>
                </a:solidFill>
                <a:latin typeface="Tahoma"/>
                <a:cs typeface="Tahoma"/>
              </a:rPr>
              <a:t>Dynamics</a:t>
            </a:r>
            <a:r>
              <a:rPr dirty="0" sz="1100" spc="-3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FFFFFF"/>
                </a:solidFill>
                <a:latin typeface="Tahoma"/>
                <a:cs typeface="Tahoma"/>
              </a:rPr>
              <a:t>of</a:t>
            </a:r>
            <a:r>
              <a:rPr dirty="0" sz="1100" spc="-3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100" spc="-30">
                <a:solidFill>
                  <a:srgbClr val="FFFFFF"/>
                </a:solidFill>
                <a:latin typeface="Tahoma"/>
                <a:cs typeface="Tahoma"/>
              </a:rPr>
              <a:t>LLM-</a:t>
            </a:r>
            <a:r>
              <a:rPr dirty="0" sz="1100" spc="-25">
                <a:solidFill>
                  <a:srgbClr val="FFFFFF"/>
                </a:solidFill>
                <a:latin typeface="Tahoma"/>
                <a:cs typeface="Tahoma"/>
              </a:rPr>
              <a:t>as-a-</a:t>
            </a:r>
            <a:r>
              <a:rPr dirty="0" sz="1100" spc="-10">
                <a:solidFill>
                  <a:srgbClr val="FFFFFF"/>
                </a:solidFill>
                <a:latin typeface="Tahoma"/>
                <a:cs typeface="Tahoma"/>
              </a:rPr>
              <a:t>Judge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2889" y="1544242"/>
            <a:ext cx="3506470" cy="6927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263015" algn="l"/>
                <a:tab pos="2357755" algn="l"/>
              </a:tabLst>
            </a:pPr>
            <a:r>
              <a:rPr dirty="0" sz="1100" spc="-45">
                <a:latin typeface="Tahoma"/>
                <a:cs typeface="Tahoma"/>
              </a:rPr>
              <a:t>Nguyen </a:t>
            </a:r>
            <a:r>
              <a:rPr dirty="0" sz="1100">
                <a:latin typeface="Tahoma"/>
                <a:cs typeface="Tahoma"/>
              </a:rPr>
              <a:t>Quoc</a:t>
            </a:r>
            <a:r>
              <a:rPr dirty="0" sz="1100" spc="-6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Huy</a:t>
            </a:r>
            <a:r>
              <a:rPr dirty="0" sz="1100">
                <a:latin typeface="Tahoma"/>
                <a:cs typeface="Tahoma"/>
              </a:rPr>
              <a:t>	Bui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Le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Tan</a:t>
            </a:r>
            <a:r>
              <a:rPr dirty="0" sz="1100" spc="-25">
                <a:latin typeface="Tahoma"/>
                <a:cs typeface="Tahoma"/>
              </a:rPr>
              <a:t> Dat</a:t>
            </a:r>
            <a:r>
              <a:rPr dirty="0" sz="1100">
                <a:latin typeface="Tahoma"/>
                <a:cs typeface="Tahoma"/>
              </a:rPr>
              <a:t>	</a:t>
            </a:r>
            <a:r>
              <a:rPr dirty="0" sz="1100" spc="-45">
                <a:latin typeface="Tahoma"/>
                <a:cs typeface="Tahoma"/>
              </a:rPr>
              <a:t>Nguyen </a:t>
            </a:r>
            <a:r>
              <a:rPr dirty="0" sz="1100" spc="-20">
                <a:latin typeface="Tahoma"/>
                <a:cs typeface="Tahoma"/>
              </a:rPr>
              <a:t>Dang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Khoa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sz="1100">
              <a:latin typeface="Tahoma"/>
              <a:cs typeface="Tahoma"/>
            </a:endParaRPr>
          </a:p>
          <a:p>
            <a:pPr algn="ctr" marL="963930">
              <a:lnSpc>
                <a:spcPct val="100000"/>
              </a:lnSpc>
            </a:pPr>
            <a:r>
              <a:rPr dirty="0" sz="800">
                <a:latin typeface="Arial"/>
                <a:cs typeface="Arial"/>
              </a:rPr>
              <a:t>FPT</a:t>
            </a:r>
            <a:r>
              <a:rPr dirty="0" sz="800" spc="13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University</a:t>
            </a:r>
            <a:endParaRPr sz="800">
              <a:latin typeface="Arial"/>
              <a:cs typeface="Arial"/>
            </a:endParaRPr>
          </a:p>
          <a:p>
            <a:pPr algn="ctr" marL="917575">
              <a:lnSpc>
                <a:spcPct val="100000"/>
              </a:lnSpc>
              <a:spcBef>
                <a:spcPts val="585"/>
              </a:spcBef>
            </a:pPr>
            <a:r>
              <a:rPr dirty="0" sz="800" spc="-10" i="1">
                <a:latin typeface="Arial"/>
                <a:cs typeface="Arial"/>
              </a:rPr>
              <a:t>Supervisor:</a:t>
            </a:r>
            <a:r>
              <a:rPr dirty="0" sz="800" spc="105" i="1">
                <a:latin typeface="Arial"/>
                <a:cs typeface="Arial"/>
              </a:rPr>
              <a:t> </a:t>
            </a:r>
            <a:r>
              <a:rPr dirty="0" sz="800" i="1">
                <a:latin typeface="Arial"/>
                <a:cs typeface="Arial"/>
              </a:rPr>
              <a:t>Le</a:t>
            </a:r>
            <a:r>
              <a:rPr dirty="0" sz="800" spc="20" i="1">
                <a:latin typeface="Arial"/>
                <a:cs typeface="Arial"/>
              </a:rPr>
              <a:t> </a:t>
            </a:r>
            <a:r>
              <a:rPr dirty="0" sz="800" i="1">
                <a:latin typeface="Arial"/>
                <a:cs typeface="Arial"/>
              </a:rPr>
              <a:t>Thi</a:t>
            </a:r>
            <a:r>
              <a:rPr dirty="0" sz="800" spc="25" i="1">
                <a:latin typeface="Arial"/>
                <a:cs typeface="Arial"/>
              </a:rPr>
              <a:t> </a:t>
            </a:r>
            <a:r>
              <a:rPr dirty="0" sz="800" i="1">
                <a:latin typeface="Arial"/>
                <a:cs typeface="Arial"/>
              </a:rPr>
              <a:t>Quynh</a:t>
            </a:r>
            <a:r>
              <a:rPr dirty="0" sz="800" spc="25" i="1">
                <a:latin typeface="Arial"/>
                <a:cs typeface="Arial"/>
              </a:rPr>
              <a:t> </a:t>
            </a:r>
            <a:r>
              <a:rPr dirty="0" sz="800" spc="-25" i="1">
                <a:latin typeface="Arial"/>
                <a:cs typeface="Arial"/>
              </a:rPr>
              <a:t>Chi</a:t>
            </a:r>
            <a:endParaRPr sz="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328458" y="1544242"/>
            <a:ext cx="7683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>
                <a:latin typeface="Tahoma"/>
                <a:cs typeface="Tahoma"/>
              </a:rPr>
              <a:t>Le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Dinh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Quy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77058" y="2383661"/>
            <a:ext cx="8064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>
                <a:latin typeface="Tahoma"/>
                <a:cs typeface="Tahoma"/>
              </a:rPr>
              <a:t>July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22,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2026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130346"/>
            <a:ext cx="5760085" cy="109855"/>
            <a:chOff x="0" y="3130346"/>
            <a:chExt cx="5760085" cy="109855"/>
          </a:xfrm>
        </p:grpSpPr>
        <p:sp>
          <p:nvSpPr>
            <p:cNvPr id="7" name="object 7"/>
            <p:cNvSpPr/>
            <p:nvPr/>
          </p:nvSpPr>
          <p:spPr>
            <a:xfrm>
              <a:off x="0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919973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3839946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pc="-10"/>
              <a:t>Nguyen</a:t>
            </a:r>
            <a:r>
              <a:rPr dirty="0" spc="55"/>
              <a:t> </a:t>
            </a:r>
            <a:r>
              <a:rPr dirty="0"/>
              <a:t>et</a:t>
            </a:r>
            <a:r>
              <a:rPr dirty="0" spc="60"/>
              <a:t> </a:t>
            </a:r>
            <a:r>
              <a:rPr dirty="0"/>
              <a:t>al.</a:t>
            </a:r>
            <a:r>
              <a:rPr dirty="0" spc="270"/>
              <a:t> </a:t>
            </a:r>
            <a:r>
              <a:rPr dirty="0"/>
              <a:t>(FPT</a:t>
            </a:r>
            <a:r>
              <a:rPr dirty="0" spc="60"/>
              <a:t> </a:t>
            </a:r>
            <a:r>
              <a:rPr dirty="0" spc="-10"/>
              <a:t>University)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2445461" y="3135783"/>
            <a:ext cx="86931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RAG</a:t>
            </a:r>
            <a:r>
              <a:rPr dirty="0" sz="600" spc="-5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Semantic</a:t>
            </a:r>
            <a:r>
              <a:rPr dirty="0" sz="60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Poisoning</a:t>
            </a:r>
            <a:endParaRPr sz="600">
              <a:latin typeface="Arial"/>
              <a:cs typeface="Arial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July</a:t>
            </a:r>
            <a:r>
              <a:rPr dirty="0" spc="20"/>
              <a:t> </a:t>
            </a:r>
            <a:r>
              <a:rPr dirty="0"/>
              <a:t>22,</a:t>
            </a:r>
            <a:r>
              <a:rPr dirty="0" spc="25"/>
              <a:t> </a:t>
            </a:r>
            <a:r>
              <a:rPr dirty="0" spc="-20"/>
              <a:t>2026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dirty="0" spc="-30"/>
              <a:t>1</a:t>
            </a:fld>
            <a:r>
              <a:rPr dirty="0" spc="-60"/>
              <a:t> </a:t>
            </a:r>
            <a:r>
              <a:rPr dirty="0" spc="150"/>
              <a:t>/</a:t>
            </a:r>
            <a:r>
              <a:rPr dirty="0" spc="-60"/>
              <a:t> </a:t>
            </a:r>
            <a:r>
              <a:rPr dirty="0" spc="-50"/>
              <a:t>9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10"/>
              <a:t>Introduction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965263"/>
            <a:ext cx="65265" cy="6526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455369"/>
            <a:ext cx="65265" cy="6526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2117559"/>
            <a:ext cx="65265" cy="6526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2932" y="881810"/>
            <a:ext cx="5230495" cy="151638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 marR="10795">
              <a:lnSpc>
                <a:spcPct val="102699"/>
              </a:lnSpc>
              <a:spcBef>
                <a:spcPts val="55"/>
              </a:spcBef>
            </a:pPr>
            <a:r>
              <a:rPr dirty="0" sz="1100" spc="-40" b="1">
                <a:latin typeface="Arial"/>
                <a:cs typeface="Arial"/>
              </a:rPr>
              <a:t>Background:</a:t>
            </a:r>
            <a:r>
              <a:rPr dirty="0" sz="1100" spc="155" b="1">
                <a:latin typeface="Arial"/>
                <a:cs typeface="Arial"/>
              </a:rPr>
              <a:t> </a:t>
            </a:r>
            <a:r>
              <a:rPr dirty="0" sz="1100" spc="-35">
                <a:latin typeface="Tahoma"/>
                <a:cs typeface="Tahoma"/>
              </a:rPr>
              <a:t>Retrieval-</a:t>
            </a:r>
            <a:r>
              <a:rPr dirty="0" sz="1100" spc="-40">
                <a:latin typeface="Tahoma"/>
                <a:cs typeface="Tahoma"/>
              </a:rPr>
              <a:t>Augmented</a:t>
            </a:r>
            <a:r>
              <a:rPr dirty="0" sz="1100" spc="1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Generation</a:t>
            </a:r>
            <a:r>
              <a:rPr dirty="0" sz="1100" spc="1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(RAG)</a:t>
            </a:r>
            <a:r>
              <a:rPr dirty="0" sz="1100" spc="15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significantly</a:t>
            </a:r>
            <a:r>
              <a:rPr dirty="0" sz="1100" spc="5">
                <a:latin typeface="Tahoma"/>
                <a:cs typeface="Tahoma"/>
              </a:rPr>
              <a:t> </a:t>
            </a:r>
            <a:r>
              <a:rPr dirty="0" sz="1100" spc="-60">
                <a:latin typeface="Tahoma"/>
                <a:cs typeface="Tahoma"/>
              </a:rPr>
              <a:t>reduces</a:t>
            </a:r>
            <a:r>
              <a:rPr dirty="0" sz="1100" spc="10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hallucinations by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grounding</a:t>
            </a:r>
            <a:r>
              <a:rPr dirty="0" sz="110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Large</a:t>
            </a:r>
            <a:r>
              <a:rPr dirty="0" sz="1100">
                <a:latin typeface="Tahoma"/>
                <a:cs typeface="Tahoma"/>
              </a:rPr>
              <a:t> </a:t>
            </a:r>
            <a:r>
              <a:rPr dirty="0" sz="1100" spc="-55">
                <a:latin typeface="Tahoma"/>
                <a:cs typeface="Tahoma"/>
              </a:rPr>
              <a:t>Language</a:t>
            </a:r>
            <a:r>
              <a:rPr dirty="0" sz="110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Models</a:t>
            </a:r>
            <a:r>
              <a:rPr dirty="0" sz="1100">
                <a:latin typeface="Tahoma"/>
                <a:cs typeface="Tahoma"/>
              </a:rPr>
              <a:t> (LLMs) in </a:t>
            </a:r>
            <a:r>
              <a:rPr dirty="0" sz="1100" spc="-40">
                <a:latin typeface="Tahoma"/>
                <a:cs typeface="Tahoma"/>
              </a:rPr>
              <a:t>retrieved</a:t>
            </a:r>
            <a:r>
              <a:rPr dirty="0" sz="110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documents.</a:t>
            </a:r>
            <a:endParaRPr sz="1100">
              <a:latin typeface="Tahoma"/>
              <a:cs typeface="Tahoma"/>
            </a:endParaRPr>
          </a:p>
          <a:p>
            <a:pPr marL="12700" marR="5080">
              <a:lnSpc>
                <a:spcPct val="102600"/>
              </a:lnSpc>
              <a:spcBef>
                <a:spcPts val="1150"/>
              </a:spcBef>
            </a:pPr>
            <a:r>
              <a:rPr dirty="0" sz="1100" b="1">
                <a:latin typeface="Arial"/>
                <a:cs typeface="Arial"/>
              </a:rPr>
              <a:t>The</a:t>
            </a:r>
            <a:r>
              <a:rPr dirty="0" sz="1100" spc="45" b="1">
                <a:latin typeface="Arial"/>
                <a:cs typeface="Arial"/>
              </a:rPr>
              <a:t> </a:t>
            </a:r>
            <a:r>
              <a:rPr dirty="0" sz="1100" spc="-25" b="1">
                <a:latin typeface="Arial"/>
                <a:cs typeface="Arial"/>
              </a:rPr>
              <a:t>Vulnerability:</a:t>
            </a:r>
            <a:r>
              <a:rPr dirty="0" sz="1100" spc="125" b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What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60">
                <a:latin typeface="Tahoma"/>
                <a:cs typeface="Tahoma"/>
              </a:rPr>
              <a:t>happens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55">
                <a:latin typeface="Tahoma"/>
                <a:cs typeface="Tahoma"/>
              </a:rPr>
              <a:t>when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retrieved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documents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60">
                <a:latin typeface="Tahoma"/>
                <a:cs typeface="Tahoma"/>
              </a:rPr>
              <a:t>are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corrupted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or </a:t>
            </a:r>
            <a:r>
              <a:rPr dirty="0" sz="1100" spc="-35">
                <a:latin typeface="Tahoma"/>
                <a:cs typeface="Tahoma"/>
              </a:rPr>
              <a:t>semantically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mutated?</a:t>
            </a:r>
            <a:r>
              <a:rPr dirty="0" sz="1100" spc="114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This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creates</a:t>
            </a:r>
            <a:r>
              <a:rPr dirty="0" sz="1100">
                <a:latin typeface="Tahoma"/>
                <a:cs typeface="Tahoma"/>
              </a:rPr>
              <a:t> a </a:t>
            </a:r>
            <a:r>
              <a:rPr dirty="0" sz="1100" spc="-10">
                <a:latin typeface="Tahoma"/>
                <a:cs typeface="Tahoma"/>
              </a:rPr>
              <a:t>conflict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 spc="-70">
                <a:latin typeface="Tahoma"/>
                <a:cs typeface="Tahoma"/>
              </a:rPr>
              <a:t>between</a:t>
            </a:r>
            <a:r>
              <a:rPr dirty="0" sz="1100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the</a:t>
            </a:r>
            <a:r>
              <a:rPr dirty="0" sz="1100">
                <a:latin typeface="Tahoma"/>
                <a:cs typeface="Tahoma"/>
              </a:rPr>
              <a:t> LLM’s </a:t>
            </a:r>
            <a:r>
              <a:rPr dirty="0" sz="1100" spc="-40">
                <a:latin typeface="Tahoma"/>
                <a:cs typeface="Tahoma"/>
              </a:rPr>
              <a:t>parametric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 spc="-65">
                <a:latin typeface="Tahoma"/>
                <a:cs typeface="Tahoma"/>
              </a:rPr>
              <a:t>memory</a:t>
            </a:r>
            <a:r>
              <a:rPr dirty="0" sz="110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and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5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corrupted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context.</a:t>
            </a:r>
            <a:endParaRPr sz="1100">
              <a:latin typeface="Tahoma"/>
              <a:cs typeface="Tahoma"/>
            </a:endParaRPr>
          </a:p>
          <a:p>
            <a:pPr marL="12700" marR="5080">
              <a:lnSpc>
                <a:spcPct val="102600"/>
              </a:lnSpc>
              <a:spcBef>
                <a:spcPts val="1150"/>
              </a:spcBef>
            </a:pPr>
            <a:r>
              <a:rPr dirty="0" sz="1100" spc="-25" b="1">
                <a:latin typeface="Arial"/>
                <a:cs typeface="Arial"/>
              </a:rPr>
              <a:t>Objective:</a:t>
            </a:r>
            <a:r>
              <a:rPr dirty="0" sz="1100" spc="135" b="1">
                <a:latin typeface="Arial"/>
                <a:cs typeface="Arial"/>
              </a:rPr>
              <a:t> </a:t>
            </a:r>
            <a:r>
              <a:rPr dirty="0" sz="1100" spc="-20">
                <a:latin typeface="Tahoma"/>
                <a:cs typeface="Tahoma"/>
              </a:rPr>
              <a:t>Empirically </a:t>
            </a:r>
            <a:r>
              <a:rPr dirty="0" sz="1100" spc="-40">
                <a:latin typeface="Tahoma"/>
                <a:cs typeface="Tahoma"/>
              </a:rPr>
              <a:t>evaluate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RAG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systems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using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416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55">
                <a:latin typeface="Tahoma"/>
                <a:cs typeface="Tahoma"/>
              </a:rPr>
              <a:t>AI-</a:t>
            </a:r>
            <a:r>
              <a:rPr dirty="0" sz="1100" spc="-50">
                <a:latin typeface="Tahoma"/>
                <a:cs typeface="Tahoma"/>
              </a:rPr>
              <a:t>generated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semantic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mutations </a:t>
            </a:r>
            <a:r>
              <a:rPr dirty="0" sz="1100">
                <a:latin typeface="Tahoma"/>
                <a:cs typeface="Tahoma"/>
              </a:rPr>
              <a:t>to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understand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defensive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behaviors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and</a:t>
            </a:r>
            <a:r>
              <a:rPr dirty="0" sz="1100" spc="-30">
                <a:latin typeface="Tahoma"/>
                <a:cs typeface="Tahoma"/>
              </a:rPr>
              <a:t> scaling </a:t>
            </a:r>
            <a:r>
              <a:rPr dirty="0" sz="1100" spc="-10">
                <a:latin typeface="Tahoma"/>
                <a:cs typeface="Tahoma"/>
              </a:rPr>
              <a:t>laws.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0" y="3130346"/>
            <a:ext cx="5760085" cy="109855"/>
            <a:chOff x="0" y="3130346"/>
            <a:chExt cx="5760085" cy="109855"/>
          </a:xfrm>
        </p:grpSpPr>
        <p:sp>
          <p:nvSpPr>
            <p:cNvPr id="8" name="object 8"/>
            <p:cNvSpPr/>
            <p:nvPr/>
          </p:nvSpPr>
          <p:spPr>
            <a:xfrm>
              <a:off x="0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919973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3839946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pc="-10"/>
              <a:t>Nguyen</a:t>
            </a:r>
            <a:r>
              <a:rPr dirty="0" spc="55"/>
              <a:t> </a:t>
            </a:r>
            <a:r>
              <a:rPr dirty="0"/>
              <a:t>et</a:t>
            </a:r>
            <a:r>
              <a:rPr dirty="0" spc="60"/>
              <a:t> </a:t>
            </a:r>
            <a:r>
              <a:rPr dirty="0"/>
              <a:t>al.</a:t>
            </a:r>
            <a:r>
              <a:rPr dirty="0" spc="270"/>
              <a:t> </a:t>
            </a:r>
            <a:r>
              <a:rPr dirty="0"/>
              <a:t>(FPT</a:t>
            </a:r>
            <a:r>
              <a:rPr dirty="0" spc="60"/>
              <a:t> </a:t>
            </a:r>
            <a:r>
              <a:rPr dirty="0" spc="-10"/>
              <a:t>University)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2445461" y="3135783"/>
            <a:ext cx="86931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"/>
                <a:cs typeface="Arial"/>
                <a:hlinkClick r:id="rId5" action="ppaction://hlinksldjump"/>
              </a:rPr>
              <a:t>RAG</a:t>
            </a:r>
            <a:r>
              <a:rPr dirty="0" sz="600" spc="-5">
                <a:solidFill>
                  <a:srgbClr val="FFFFFF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"/>
                <a:cs typeface="Arial"/>
                <a:hlinkClick r:id="rId5" action="ppaction://hlinksldjump"/>
              </a:rPr>
              <a:t>Semantic</a:t>
            </a:r>
            <a:r>
              <a:rPr dirty="0" sz="600">
                <a:solidFill>
                  <a:srgbClr val="FFFFFF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"/>
                <a:cs typeface="Arial"/>
                <a:hlinkClick r:id="rId5" action="ppaction://hlinksldjump"/>
              </a:rPr>
              <a:t>Poisoning</a:t>
            </a:r>
            <a:endParaRPr sz="600">
              <a:latin typeface="Arial"/>
              <a:cs typeface="Arial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July</a:t>
            </a:r>
            <a:r>
              <a:rPr dirty="0" spc="20"/>
              <a:t> </a:t>
            </a:r>
            <a:r>
              <a:rPr dirty="0"/>
              <a:t>22,</a:t>
            </a:r>
            <a:r>
              <a:rPr dirty="0" spc="25"/>
              <a:t> </a:t>
            </a:r>
            <a:r>
              <a:rPr dirty="0" spc="-20"/>
              <a:t>2026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dirty="0" spc="-30"/>
              <a:t>1</a:t>
            </a:fld>
            <a:r>
              <a:rPr dirty="0" spc="-60"/>
              <a:t> </a:t>
            </a:r>
            <a:r>
              <a:rPr dirty="0" spc="150"/>
              <a:t>/</a:t>
            </a:r>
            <a:r>
              <a:rPr dirty="0" spc="-60"/>
              <a:t> </a:t>
            </a:r>
            <a:r>
              <a:rPr dirty="0" spc="-50"/>
              <a:t>9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10"/>
              <a:t>Methodology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930808"/>
            <a:ext cx="65265" cy="6526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0865" y="1120622"/>
            <a:ext cx="52590" cy="5259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0865" y="1272451"/>
            <a:ext cx="52590" cy="5259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1567116"/>
            <a:ext cx="65265" cy="6526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1089" y="1849145"/>
            <a:ext cx="65265" cy="65265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81089" y="2131174"/>
            <a:ext cx="65265" cy="6526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02932" y="822273"/>
            <a:ext cx="5223510" cy="1589405"/>
          </a:xfrm>
          <a:prstGeom prst="rect">
            <a:avLst/>
          </a:prstGeom>
        </p:spPr>
        <p:txBody>
          <a:bodyPr wrap="square" lIns="0" tIns="361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dirty="0" sz="1100" b="1">
                <a:latin typeface="Arial"/>
                <a:cs typeface="Arial"/>
              </a:rPr>
              <a:t>Dataset:</a:t>
            </a:r>
            <a:r>
              <a:rPr dirty="0" sz="1100" spc="95" b="1">
                <a:latin typeface="Arial"/>
                <a:cs typeface="Arial"/>
              </a:rPr>
              <a:t> </a:t>
            </a:r>
            <a:r>
              <a:rPr dirty="0" sz="1100" spc="-40">
                <a:latin typeface="Tahoma"/>
                <a:cs typeface="Tahoma"/>
              </a:rPr>
              <a:t>416 </a:t>
            </a:r>
            <a:r>
              <a:rPr dirty="0" sz="1100" spc="-35">
                <a:latin typeface="Tahoma"/>
                <a:cs typeface="Tahoma"/>
              </a:rPr>
              <a:t>semantic </a:t>
            </a:r>
            <a:r>
              <a:rPr dirty="0" sz="1100" spc="-30">
                <a:latin typeface="Tahoma"/>
                <a:cs typeface="Tahoma"/>
              </a:rPr>
              <a:t>mutations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altering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factual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claims,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55">
                <a:latin typeface="Tahoma"/>
                <a:cs typeface="Tahoma"/>
              </a:rPr>
              <a:t>numbers,</a:t>
            </a:r>
            <a:r>
              <a:rPr dirty="0" sz="1100" spc="-35">
                <a:latin typeface="Tahoma"/>
                <a:cs typeface="Tahoma"/>
              </a:rPr>
              <a:t> and </a:t>
            </a:r>
            <a:r>
              <a:rPr dirty="0" sz="1100" spc="-10">
                <a:latin typeface="Tahoma"/>
                <a:cs typeface="Tahoma"/>
              </a:rPr>
              <a:t>code.</a:t>
            </a:r>
            <a:endParaRPr sz="1100">
              <a:latin typeface="Tahoma"/>
              <a:cs typeface="Tahoma"/>
            </a:endParaRPr>
          </a:p>
          <a:p>
            <a:pPr marL="289560">
              <a:lnSpc>
                <a:spcPts val="1200"/>
              </a:lnSpc>
              <a:spcBef>
                <a:spcPts val="175"/>
              </a:spcBef>
            </a:pPr>
            <a:r>
              <a:rPr dirty="0" sz="1000" i="1">
                <a:latin typeface="Calibri"/>
                <a:cs typeface="Calibri"/>
              </a:rPr>
              <a:t>Public</a:t>
            </a:r>
            <a:r>
              <a:rPr dirty="0" sz="1000" spc="155" i="1">
                <a:latin typeface="Calibri"/>
                <a:cs typeface="Calibri"/>
              </a:rPr>
              <a:t> </a:t>
            </a:r>
            <a:r>
              <a:rPr dirty="0" sz="1000" i="1">
                <a:latin typeface="Calibri"/>
                <a:cs typeface="Calibri"/>
              </a:rPr>
              <a:t>Data:</a:t>
            </a:r>
            <a:r>
              <a:rPr dirty="0" sz="1000" spc="320" i="1">
                <a:latin typeface="Calibri"/>
                <a:cs typeface="Calibri"/>
              </a:rPr>
              <a:t> </a:t>
            </a:r>
            <a:r>
              <a:rPr dirty="0" sz="1000">
                <a:latin typeface="Tahoma"/>
                <a:cs typeface="Tahoma"/>
              </a:rPr>
              <a:t>FastAPI</a:t>
            </a:r>
            <a:r>
              <a:rPr dirty="0" sz="1000" spc="7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documentation.</a:t>
            </a:r>
            <a:endParaRPr sz="1000">
              <a:latin typeface="Tahoma"/>
              <a:cs typeface="Tahoma"/>
            </a:endParaRPr>
          </a:p>
          <a:p>
            <a:pPr marL="289560">
              <a:lnSpc>
                <a:spcPts val="1200"/>
              </a:lnSpc>
            </a:pPr>
            <a:r>
              <a:rPr dirty="0" sz="1000" i="1">
                <a:latin typeface="Calibri"/>
                <a:cs typeface="Calibri"/>
              </a:rPr>
              <a:t>Private</a:t>
            </a:r>
            <a:r>
              <a:rPr dirty="0" sz="1000" spc="100" i="1">
                <a:latin typeface="Calibri"/>
                <a:cs typeface="Calibri"/>
              </a:rPr>
              <a:t> </a:t>
            </a:r>
            <a:r>
              <a:rPr dirty="0" sz="1000" i="1">
                <a:latin typeface="Calibri"/>
                <a:cs typeface="Calibri"/>
              </a:rPr>
              <a:t>Data:</a:t>
            </a:r>
            <a:r>
              <a:rPr dirty="0" sz="1000" spc="240" i="1">
                <a:latin typeface="Calibri"/>
                <a:cs typeface="Calibri"/>
              </a:rPr>
              <a:t> </a:t>
            </a:r>
            <a:r>
              <a:rPr dirty="0" sz="1000" spc="-40">
                <a:latin typeface="Tahoma"/>
                <a:cs typeface="Tahoma"/>
              </a:rPr>
              <a:t>Internal</a:t>
            </a:r>
            <a:r>
              <a:rPr dirty="0" sz="1000" spc="15">
                <a:latin typeface="Tahoma"/>
                <a:cs typeface="Tahoma"/>
              </a:rPr>
              <a:t> </a:t>
            </a:r>
            <a:r>
              <a:rPr dirty="0" sz="1000" spc="-45">
                <a:latin typeface="Tahoma"/>
                <a:cs typeface="Tahoma"/>
              </a:rPr>
              <a:t>system</a:t>
            </a:r>
            <a:r>
              <a:rPr dirty="0" sz="1000" spc="15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documentation</a:t>
            </a:r>
            <a:r>
              <a:rPr dirty="0" sz="1000" spc="1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(no</a:t>
            </a:r>
            <a:r>
              <a:rPr dirty="0" sz="1000" spc="20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pretraining</a:t>
            </a:r>
            <a:r>
              <a:rPr dirty="0" sz="1000" spc="1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exposure).</a:t>
            </a:r>
            <a:endParaRPr sz="1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120"/>
              </a:spcBef>
            </a:pPr>
            <a:r>
              <a:rPr dirty="0" sz="1100" spc="-20" b="1">
                <a:latin typeface="Arial"/>
                <a:cs typeface="Arial"/>
              </a:rPr>
              <a:t>Models</a:t>
            </a:r>
            <a:r>
              <a:rPr dirty="0" sz="1100" spc="10" b="1">
                <a:latin typeface="Arial"/>
                <a:cs typeface="Arial"/>
              </a:rPr>
              <a:t> </a:t>
            </a:r>
            <a:r>
              <a:rPr dirty="0" sz="1100" spc="-30" b="1">
                <a:latin typeface="Arial"/>
                <a:cs typeface="Arial"/>
              </a:rPr>
              <a:t>Evaluated:</a:t>
            </a:r>
            <a:r>
              <a:rPr dirty="0" sz="1100" spc="85" b="1">
                <a:latin typeface="Arial"/>
                <a:cs typeface="Arial"/>
              </a:rPr>
              <a:t> </a:t>
            </a:r>
            <a:r>
              <a:rPr dirty="0" sz="1100" spc="-10">
                <a:latin typeface="Tahoma"/>
                <a:cs typeface="Tahoma"/>
              </a:rPr>
              <a:t>Llama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3.1</a:t>
            </a:r>
            <a:r>
              <a:rPr dirty="0" sz="1100" spc="-5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8B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vs.</a:t>
            </a:r>
            <a:r>
              <a:rPr dirty="0" sz="1100" spc="50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17B.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dirty="0" sz="1100" spc="-45" b="1">
                <a:latin typeface="Arial"/>
                <a:cs typeface="Arial"/>
              </a:rPr>
              <a:t>Configurations:</a:t>
            </a:r>
            <a:r>
              <a:rPr dirty="0" sz="1100" spc="90" b="1">
                <a:latin typeface="Arial"/>
                <a:cs typeface="Arial"/>
              </a:rPr>
              <a:t> </a:t>
            </a:r>
            <a:r>
              <a:rPr dirty="0" sz="1100" spc="-35">
                <a:latin typeface="Tahoma"/>
                <a:cs typeface="Tahoma"/>
              </a:rPr>
              <a:t>Tested </a:t>
            </a:r>
            <a:r>
              <a:rPr dirty="0" sz="1100">
                <a:latin typeface="Tahoma"/>
                <a:cs typeface="Tahoma"/>
              </a:rPr>
              <a:t>with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and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without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defensive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System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Prompts.</a:t>
            </a:r>
            <a:endParaRPr sz="1100">
              <a:latin typeface="Tahoma"/>
              <a:cs typeface="Tahoma"/>
            </a:endParaRPr>
          </a:p>
          <a:p>
            <a:pPr marL="12700" marR="5080">
              <a:lnSpc>
                <a:spcPct val="102699"/>
              </a:lnSpc>
              <a:spcBef>
                <a:spcPts val="865"/>
              </a:spcBef>
            </a:pPr>
            <a:r>
              <a:rPr dirty="0" sz="1100" spc="-35" b="1">
                <a:latin typeface="Arial"/>
                <a:cs typeface="Arial"/>
              </a:rPr>
              <a:t>Evaluation</a:t>
            </a:r>
            <a:r>
              <a:rPr dirty="0" sz="1100" spc="30" b="1">
                <a:latin typeface="Arial"/>
                <a:cs typeface="Arial"/>
              </a:rPr>
              <a:t> </a:t>
            </a:r>
            <a:r>
              <a:rPr dirty="0" sz="1100" spc="-20" b="1">
                <a:latin typeface="Arial"/>
                <a:cs typeface="Arial"/>
              </a:rPr>
              <a:t>Pipeline:</a:t>
            </a:r>
            <a:r>
              <a:rPr dirty="0" sz="1100" spc="100" b="1">
                <a:latin typeface="Arial"/>
                <a:cs typeface="Arial"/>
              </a:rPr>
              <a:t> </a:t>
            </a:r>
            <a:r>
              <a:rPr dirty="0" sz="1100" spc="-30">
                <a:latin typeface="Tahoma"/>
                <a:cs typeface="Tahoma"/>
              </a:rPr>
              <a:t>LLM-</a:t>
            </a:r>
            <a:r>
              <a:rPr dirty="0" sz="1100" spc="-25">
                <a:latin typeface="Tahoma"/>
                <a:cs typeface="Tahoma"/>
              </a:rPr>
              <a:t>as-a-</a:t>
            </a:r>
            <a:r>
              <a:rPr dirty="0" sz="1100" spc="-10">
                <a:latin typeface="Tahoma"/>
                <a:cs typeface="Tahoma"/>
              </a:rPr>
              <a:t>Judge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(Llama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4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Scout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17B),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cross-</a:t>
            </a:r>
            <a:r>
              <a:rPr dirty="0" sz="1100" spc="-35">
                <a:latin typeface="Tahoma"/>
                <a:cs typeface="Tahoma"/>
              </a:rPr>
              <a:t>validated </a:t>
            </a:r>
            <a:r>
              <a:rPr dirty="0" sz="1100">
                <a:latin typeface="Tahoma"/>
                <a:cs typeface="Tahoma"/>
              </a:rPr>
              <a:t>with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human </a:t>
            </a:r>
            <a:r>
              <a:rPr dirty="0" sz="1100" spc="-55">
                <a:latin typeface="Tahoma"/>
                <a:cs typeface="Tahoma"/>
              </a:rPr>
              <a:t>reviewers</a:t>
            </a:r>
            <a:r>
              <a:rPr dirty="0" sz="1100" spc="1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(</a:t>
            </a:r>
            <a:r>
              <a:rPr dirty="0" sz="1100" i="1">
                <a:latin typeface="Calibri"/>
                <a:cs typeface="Calibri"/>
              </a:rPr>
              <a:t>k</a:t>
            </a:r>
            <a:r>
              <a:rPr dirty="0" sz="1100" spc="140" i="1">
                <a:latin typeface="Calibri"/>
                <a:cs typeface="Calibri"/>
              </a:rPr>
              <a:t> </a:t>
            </a:r>
            <a:r>
              <a:rPr dirty="0" sz="1100" spc="-60" i="1">
                <a:latin typeface="Verdana"/>
                <a:cs typeface="Verdana"/>
              </a:rPr>
              <a:t>&gt;</a:t>
            </a:r>
            <a:r>
              <a:rPr dirty="0" sz="1100" spc="-85" i="1">
                <a:latin typeface="Verdana"/>
                <a:cs typeface="Verdana"/>
              </a:rPr>
              <a:t> </a:t>
            </a:r>
            <a:r>
              <a:rPr dirty="0" sz="1100" spc="-10">
                <a:latin typeface="Tahoma"/>
                <a:cs typeface="Tahoma"/>
              </a:rPr>
              <a:t>0</a:t>
            </a:r>
            <a:r>
              <a:rPr dirty="0" sz="1100" spc="-10" i="1">
                <a:latin typeface="Verdana"/>
                <a:cs typeface="Verdana"/>
              </a:rPr>
              <a:t>.</a:t>
            </a:r>
            <a:r>
              <a:rPr dirty="0" sz="1100" spc="-10">
                <a:latin typeface="Tahoma"/>
                <a:cs typeface="Tahoma"/>
              </a:rPr>
              <a:t>73).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0" y="3130346"/>
            <a:ext cx="5760085" cy="109855"/>
            <a:chOff x="0" y="3130346"/>
            <a:chExt cx="5760085" cy="109855"/>
          </a:xfrm>
        </p:grpSpPr>
        <p:sp>
          <p:nvSpPr>
            <p:cNvPr id="11" name="object 11"/>
            <p:cNvSpPr/>
            <p:nvPr/>
          </p:nvSpPr>
          <p:spPr>
            <a:xfrm>
              <a:off x="0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1919973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3839946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pc="-10"/>
              <a:t>Nguyen</a:t>
            </a:r>
            <a:r>
              <a:rPr dirty="0" spc="55"/>
              <a:t> </a:t>
            </a:r>
            <a:r>
              <a:rPr dirty="0"/>
              <a:t>et</a:t>
            </a:r>
            <a:r>
              <a:rPr dirty="0" spc="60"/>
              <a:t> </a:t>
            </a:r>
            <a:r>
              <a:rPr dirty="0"/>
              <a:t>al.</a:t>
            </a:r>
            <a:r>
              <a:rPr dirty="0" spc="270"/>
              <a:t> </a:t>
            </a:r>
            <a:r>
              <a:rPr dirty="0"/>
              <a:t>(FPT</a:t>
            </a:r>
            <a:r>
              <a:rPr dirty="0" spc="60"/>
              <a:t> </a:t>
            </a:r>
            <a:r>
              <a:rPr dirty="0" spc="-10"/>
              <a:t>University)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2445461" y="3135783"/>
            <a:ext cx="86931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"/>
                <a:cs typeface="Arial"/>
                <a:hlinkClick r:id="rId8" action="ppaction://hlinksldjump"/>
              </a:rPr>
              <a:t>RAG</a:t>
            </a:r>
            <a:r>
              <a:rPr dirty="0" sz="600" spc="-5">
                <a:solidFill>
                  <a:srgbClr val="FFFFFF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"/>
                <a:cs typeface="Arial"/>
                <a:hlinkClick r:id="rId8" action="ppaction://hlinksldjump"/>
              </a:rPr>
              <a:t>Semantic</a:t>
            </a:r>
            <a:r>
              <a:rPr dirty="0" sz="600">
                <a:solidFill>
                  <a:srgbClr val="FFFFFF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"/>
                <a:cs typeface="Arial"/>
                <a:hlinkClick r:id="rId8" action="ppaction://hlinksldjump"/>
              </a:rPr>
              <a:t>Poisoning</a:t>
            </a:r>
            <a:endParaRPr sz="600">
              <a:latin typeface="Arial"/>
              <a:cs typeface="Arial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July</a:t>
            </a:r>
            <a:r>
              <a:rPr dirty="0" spc="20"/>
              <a:t> </a:t>
            </a:r>
            <a:r>
              <a:rPr dirty="0"/>
              <a:t>22,</a:t>
            </a:r>
            <a:r>
              <a:rPr dirty="0" spc="25"/>
              <a:t> </a:t>
            </a:r>
            <a:r>
              <a:rPr dirty="0" spc="-20"/>
              <a:t>2026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dirty="0" spc="-30"/>
              <a:t>1</a:t>
            </a:fld>
            <a:r>
              <a:rPr dirty="0" spc="-60"/>
              <a:t> </a:t>
            </a:r>
            <a:r>
              <a:rPr dirty="0" spc="150"/>
              <a:t>/</a:t>
            </a:r>
            <a:r>
              <a:rPr dirty="0" spc="-60"/>
              <a:t> </a:t>
            </a:r>
            <a:r>
              <a:rPr dirty="0" spc="-50"/>
              <a:t>9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Evaluation</a:t>
            </a:r>
            <a:r>
              <a:rPr dirty="0" spc="275"/>
              <a:t> </a:t>
            </a:r>
            <a:r>
              <a:rPr dirty="0"/>
              <a:t>Metrics</a:t>
            </a:r>
            <a:r>
              <a:rPr dirty="0" spc="280"/>
              <a:t> </a:t>
            </a:r>
            <a:r>
              <a:rPr dirty="0" spc="-10"/>
              <a:t>(Labels)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844" y="839913"/>
            <a:ext cx="4151629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25">
                <a:latin typeface="Tahoma"/>
                <a:cs typeface="Tahoma"/>
              </a:rPr>
              <a:t>Every</a:t>
            </a:r>
            <a:r>
              <a:rPr dirty="0" sz="1100" spc="-65">
                <a:latin typeface="Tahoma"/>
                <a:cs typeface="Tahoma"/>
              </a:rPr>
              <a:t> </a:t>
            </a:r>
            <a:r>
              <a:rPr dirty="0" sz="1100" spc="-55">
                <a:latin typeface="Tahoma"/>
                <a:cs typeface="Tahoma"/>
              </a:rPr>
              <a:t>response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75">
                <a:latin typeface="Tahoma"/>
                <a:cs typeface="Tahoma"/>
              </a:rPr>
              <a:t>was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classified </a:t>
            </a:r>
            <a:r>
              <a:rPr dirty="0" sz="1100">
                <a:latin typeface="Tahoma"/>
                <a:cs typeface="Tahoma"/>
              </a:rPr>
              <a:t>into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one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of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four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mutually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exclusive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labels: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7672" y="1248050"/>
            <a:ext cx="114214" cy="11421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51917" y="1235130"/>
            <a:ext cx="6604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5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6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02932" y="1193938"/>
            <a:ext cx="450024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30" b="1">
                <a:latin typeface="Arial"/>
                <a:cs typeface="Arial"/>
              </a:rPr>
              <a:t>Abstain</a:t>
            </a:r>
            <a:r>
              <a:rPr dirty="0" sz="1100" spc="5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(Safe):</a:t>
            </a:r>
            <a:r>
              <a:rPr dirty="0" sz="1100" spc="135" b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The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model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recognizes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contradictions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and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 spc="-65">
                <a:latin typeface="Tahoma"/>
                <a:cs typeface="Tahoma"/>
              </a:rPr>
              <a:t>refuses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to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answer.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7672" y="1530092"/>
            <a:ext cx="114214" cy="114214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251917" y="1517159"/>
            <a:ext cx="6604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5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6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02932" y="1475967"/>
            <a:ext cx="400494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0" b="1">
                <a:latin typeface="Arial"/>
                <a:cs typeface="Arial"/>
              </a:rPr>
              <a:t>Faithful</a:t>
            </a:r>
            <a:r>
              <a:rPr dirty="0" sz="1100" spc="2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(Fooled):</a:t>
            </a:r>
            <a:r>
              <a:rPr dirty="0" sz="1100" spc="90" b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The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model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blindly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repeats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poisoned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context.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7672" y="1812121"/>
            <a:ext cx="114214" cy="114214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251917" y="1799188"/>
            <a:ext cx="6604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5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6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02932" y="1757996"/>
            <a:ext cx="4738370" cy="363855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 marR="5080">
              <a:lnSpc>
                <a:spcPct val="102699"/>
              </a:lnSpc>
              <a:spcBef>
                <a:spcPts val="55"/>
              </a:spcBef>
            </a:pPr>
            <a:r>
              <a:rPr dirty="0" sz="1100" spc="-40" b="1">
                <a:latin typeface="Arial"/>
                <a:cs typeface="Arial"/>
              </a:rPr>
              <a:t>Inconsistent</a:t>
            </a:r>
            <a:r>
              <a:rPr dirty="0" sz="1100" spc="4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(Violation):</a:t>
            </a:r>
            <a:r>
              <a:rPr dirty="0" sz="1100" spc="114" b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The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model</a:t>
            </a:r>
            <a:r>
              <a:rPr dirty="0" sz="1100" spc="-20">
                <a:latin typeface="Tahoma"/>
                <a:cs typeface="Tahoma"/>
              </a:rPr>
              <a:t> silently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corrects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error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using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its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internal </a:t>
            </a:r>
            <a:r>
              <a:rPr dirty="0" sz="1100" spc="-55">
                <a:latin typeface="Tahoma"/>
                <a:cs typeface="Tahoma"/>
              </a:rPr>
              <a:t>knowledge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(violating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RAG’s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 spc="-60">
                <a:latin typeface="Tahoma"/>
                <a:cs typeface="Tahoma"/>
              </a:rPr>
              <a:t>groundedness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principle).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13" name="object 1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27672" y="2266222"/>
            <a:ext cx="114214" cy="114214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251917" y="2253302"/>
            <a:ext cx="6604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5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6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02932" y="2212110"/>
            <a:ext cx="4167504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25" b="1">
                <a:latin typeface="Arial"/>
                <a:cs typeface="Arial"/>
              </a:rPr>
              <a:t>Hallucination:</a:t>
            </a:r>
            <a:r>
              <a:rPr dirty="0" sz="1100" spc="114" b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The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model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fabricates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completely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unrelated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information.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0" y="3130346"/>
            <a:ext cx="5760085" cy="109855"/>
            <a:chOff x="0" y="3130346"/>
            <a:chExt cx="5760085" cy="109855"/>
          </a:xfrm>
        </p:grpSpPr>
        <p:sp>
          <p:nvSpPr>
            <p:cNvPr id="17" name="object 17"/>
            <p:cNvSpPr/>
            <p:nvPr/>
          </p:nvSpPr>
          <p:spPr>
            <a:xfrm>
              <a:off x="0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1919973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3839933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pc="-10"/>
              <a:t>Nguyen</a:t>
            </a:r>
            <a:r>
              <a:rPr dirty="0" spc="55"/>
              <a:t> </a:t>
            </a:r>
            <a:r>
              <a:rPr dirty="0"/>
              <a:t>et</a:t>
            </a:r>
            <a:r>
              <a:rPr dirty="0" spc="60"/>
              <a:t> </a:t>
            </a:r>
            <a:r>
              <a:rPr dirty="0"/>
              <a:t>al.</a:t>
            </a:r>
            <a:r>
              <a:rPr dirty="0" spc="270"/>
              <a:t> </a:t>
            </a:r>
            <a:r>
              <a:rPr dirty="0"/>
              <a:t>(FPT</a:t>
            </a:r>
            <a:r>
              <a:rPr dirty="0" spc="60"/>
              <a:t> </a:t>
            </a:r>
            <a:r>
              <a:rPr dirty="0" spc="-10"/>
              <a:t>University)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2445461" y="3135783"/>
            <a:ext cx="86931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"/>
                <a:cs typeface="Arial"/>
                <a:hlinkClick r:id="rId6" action="ppaction://hlinksldjump"/>
              </a:rPr>
              <a:t>RAG</a:t>
            </a:r>
            <a:r>
              <a:rPr dirty="0" sz="600" spc="-5">
                <a:solidFill>
                  <a:srgbClr val="FFFFFF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"/>
                <a:cs typeface="Arial"/>
                <a:hlinkClick r:id="rId6" action="ppaction://hlinksldjump"/>
              </a:rPr>
              <a:t>Semantic</a:t>
            </a:r>
            <a:r>
              <a:rPr dirty="0" sz="600">
                <a:solidFill>
                  <a:srgbClr val="FFFFFF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"/>
                <a:cs typeface="Arial"/>
                <a:hlinkClick r:id="rId6" action="ppaction://hlinksldjump"/>
              </a:rPr>
              <a:t>Poisoning</a:t>
            </a:r>
            <a:endParaRPr sz="600">
              <a:latin typeface="Arial"/>
              <a:cs typeface="Arial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July</a:t>
            </a:r>
            <a:r>
              <a:rPr dirty="0" spc="20"/>
              <a:t> </a:t>
            </a:r>
            <a:r>
              <a:rPr dirty="0"/>
              <a:t>22,</a:t>
            </a:r>
            <a:r>
              <a:rPr dirty="0" spc="25"/>
              <a:t> </a:t>
            </a:r>
            <a:r>
              <a:rPr dirty="0" spc="-20"/>
              <a:t>2026</a:t>
            </a:r>
          </a:p>
        </p:txBody>
      </p:sp>
      <p:sp>
        <p:nvSpPr>
          <p:cNvPr id="23" name="object 2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dirty="0" spc="-30"/>
              <a:t>1</a:t>
            </a:fld>
            <a:r>
              <a:rPr dirty="0" spc="-60"/>
              <a:t> </a:t>
            </a:r>
            <a:r>
              <a:rPr dirty="0" spc="150"/>
              <a:t>/</a:t>
            </a:r>
            <a:r>
              <a:rPr dirty="0" spc="-60"/>
              <a:t> </a:t>
            </a:r>
            <a:r>
              <a:rPr dirty="0" spc="-50"/>
              <a:t>9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Finding</a:t>
            </a:r>
            <a:r>
              <a:rPr dirty="0" spc="135"/>
              <a:t> </a:t>
            </a:r>
            <a:r>
              <a:rPr dirty="0"/>
              <a:t>1:</a:t>
            </a:r>
            <a:r>
              <a:rPr dirty="0" spc="310"/>
              <a:t> </a:t>
            </a:r>
            <a:r>
              <a:rPr dirty="0"/>
              <a:t>The</a:t>
            </a:r>
            <a:r>
              <a:rPr dirty="0" spc="135"/>
              <a:t> </a:t>
            </a:r>
            <a:r>
              <a:rPr dirty="0"/>
              <a:t>Inverse</a:t>
            </a:r>
            <a:r>
              <a:rPr dirty="0" spc="135"/>
              <a:t> </a:t>
            </a:r>
            <a:r>
              <a:rPr dirty="0" spc="50"/>
              <a:t>Scaling</a:t>
            </a:r>
            <a:r>
              <a:rPr dirty="0" spc="140"/>
              <a:t> </a:t>
            </a:r>
            <a:r>
              <a:rPr dirty="0" spc="-25"/>
              <a:t>Law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844" y="690751"/>
            <a:ext cx="4165600" cy="36385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45" b="1">
                <a:latin typeface="Arial"/>
                <a:cs typeface="Arial"/>
              </a:rPr>
              <a:t>Hypothesis:</a:t>
            </a:r>
            <a:r>
              <a:rPr dirty="0" sz="1100" spc="110" b="1">
                <a:latin typeface="Arial"/>
                <a:cs typeface="Arial"/>
              </a:rPr>
              <a:t> </a:t>
            </a:r>
            <a:r>
              <a:rPr dirty="0" sz="1100" spc="-35">
                <a:latin typeface="Tahoma"/>
                <a:cs typeface="Tahoma"/>
              </a:rPr>
              <a:t>Larger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models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60">
                <a:latin typeface="Tahoma"/>
                <a:cs typeface="Tahoma"/>
              </a:rPr>
              <a:t>are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safer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and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60">
                <a:latin typeface="Tahoma"/>
                <a:cs typeface="Tahoma"/>
              </a:rPr>
              <a:t>more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resistant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to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attacks.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100" spc="-20" b="1">
                <a:latin typeface="Arial"/>
                <a:cs typeface="Arial"/>
              </a:rPr>
              <a:t>Reality:</a:t>
            </a:r>
            <a:r>
              <a:rPr dirty="0" sz="1100" spc="75" b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Without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System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Prompt,</a:t>
            </a:r>
            <a:r>
              <a:rPr dirty="0" sz="1100" spc="-40">
                <a:latin typeface="Tahoma"/>
                <a:cs typeface="Tahoma"/>
              </a:rPr>
              <a:t> larger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models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60">
                <a:latin typeface="Tahoma"/>
                <a:cs typeface="Tahoma"/>
              </a:rPr>
              <a:t>are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i="1">
                <a:latin typeface="Calibri"/>
                <a:cs typeface="Calibri"/>
              </a:rPr>
              <a:t>more</a:t>
            </a:r>
            <a:r>
              <a:rPr dirty="0" sz="1100" spc="60" i="1">
                <a:latin typeface="Calibri"/>
                <a:cs typeface="Calibri"/>
              </a:rPr>
              <a:t> </a:t>
            </a:r>
            <a:r>
              <a:rPr dirty="0" sz="1100" spc="-10" i="1">
                <a:latin typeface="Calibri"/>
                <a:cs typeface="Calibri"/>
              </a:rPr>
              <a:t>vulnerable</a:t>
            </a:r>
            <a:r>
              <a:rPr dirty="0" sz="1100" spc="-10">
                <a:latin typeface="Tahoma"/>
                <a:cs typeface="Tahoma"/>
              </a:rPr>
              <a:t>.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389316" y="1281074"/>
            <a:ext cx="2981960" cy="0"/>
          </a:xfrm>
          <a:custGeom>
            <a:avLst/>
            <a:gdLst/>
            <a:ahLst/>
            <a:cxnLst/>
            <a:rect l="l" t="t" r="r" b="b"/>
            <a:pathLst>
              <a:path w="2981960" h="0">
                <a:moveTo>
                  <a:pt x="0" y="0"/>
                </a:moveTo>
                <a:lnTo>
                  <a:pt x="2981375" y="0"/>
                </a:lnTo>
              </a:path>
            </a:pathLst>
          </a:custGeom>
          <a:ln w="1108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452524" y="1295843"/>
            <a:ext cx="131127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b="1">
                <a:latin typeface="Arial"/>
                <a:cs typeface="Arial"/>
              </a:rPr>
              <a:t>Model</a:t>
            </a:r>
            <a:r>
              <a:rPr dirty="0" sz="1100" spc="11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(No</a:t>
            </a:r>
            <a:r>
              <a:rPr dirty="0" sz="1100" spc="110" b="1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Prompt)</a:t>
            </a:r>
            <a:endParaRPr sz="11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889851" y="1295843"/>
            <a:ext cx="141795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30" b="1">
                <a:latin typeface="Arial"/>
                <a:cs typeface="Arial"/>
              </a:rPr>
              <a:t>Abstain</a:t>
            </a:r>
            <a:r>
              <a:rPr dirty="0" sz="1100" spc="1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Rate</a:t>
            </a:r>
            <a:r>
              <a:rPr dirty="0" sz="1100" spc="20" b="1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(Safety)</a:t>
            </a:r>
            <a:endParaRPr sz="11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389316" y="1526806"/>
            <a:ext cx="2981960" cy="0"/>
          </a:xfrm>
          <a:custGeom>
            <a:avLst/>
            <a:gdLst/>
            <a:ahLst/>
            <a:cxnLst/>
            <a:rect l="l" t="t" r="r" b="b"/>
            <a:pathLst>
              <a:path w="2981960" h="0">
                <a:moveTo>
                  <a:pt x="0" y="0"/>
                </a:moveTo>
                <a:lnTo>
                  <a:pt x="2981375" y="0"/>
                </a:lnTo>
              </a:path>
            </a:pathLst>
          </a:custGeom>
          <a:ln w="692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452524" y="1539505"/>
            <a:ext cx="877569" cy="36385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0">
                <a:latin typeface="Tahoma"/>
                <a:cs typeface="Tahoma"/>
              </a:rPr>
              <a:t>Llama</a:t>
            </a:r>
            <a:r>
              <a:rPr dirty="0" sz="1100" spc="-55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3.1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17B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100" spc="-10">
                <a:latin typeface="Tahoma"/>
                <a:cs typeface="Tahoma"/>
              </a:rPr>
              <a:t>Llama</a:t>
            </a:r>
            <a:r>
              <a:rPr dirty="0" sz="1100" spc="-55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3.1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8B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370327" y="1539505"/>
            <a:ext cx="456565" cy="36385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46990">
              <a:lnSpc>
                <a:spcPct val="100000"/>
              </a:lnSpc>
              <a:spcBef>
                <a:spcPts val="90"/>
              </a:spcBef>
            </a:pPr>
            <a:r>
              <a:rPr dirty="0" sz="1100" spc="-10">
                <a:latin typeface="Tahoma"/>
                <a:cs typeface="Tahoma"/>
              </a:rPr>
              <a:t>3.61%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100" spc="-70">
                <a:latin typeface="Tahoma"/>
                <a:cs typeface="Tahoma"/>
              </a:rPr>
              <a:t>42.55%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389316" y="1944623"/>
            <a:ext cx="2981960" cy="0"/>
          </a:xfrm>
          <a:custGeom>
            <a:avLst/>
            <a:gdLst/>
            <a:ahLst/>
            <a:cxnLst/>
            <a:rect l="l" t="t" r="r" b="b"/>
            <a:pathLst>
              <a:path w="2981960" h="0">
                <a:moveTo>
                  <a:pt x="0" y="0"/>
                </a:moveTo>
                <a:lnTo>
                  <a:pt x="2981375" y="0"/>
                </a:lnTo>
              </a:path>
            </a:pathLst>
          </a:custGeom>
          <a:ln w="1108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125844" y="2129649"/>
            <a:ext cx="5274310" cy="53594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dirty="0" sz="1100" b="1">
                <a:latin typeface="Arial"/>
                <a:cs typeface="Arial"/>
              </a:rPr>
              <a:t>Why?</a:t>
            </a:r>
            <a:r>
              <a:rPr dirty="0" sz="1100" spc="120" b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The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17B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model’s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superior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reasoning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allows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it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to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55">
                <a:latin typeface="Tahoma"/>
                <a:cs typeface="Tahoma"/>
              </a:rPr>
              <a:t>seamlessly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synthesize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flawed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logic (Faithful:</a:t>
            </a:r>
            <a:r>
              <a:rPr dirty="0" sz="1100" spc="70">
                <a:latin typeface="Tahoma"/>
                <a:cs typeface="Tahoma"/>
              </a:rPr>
              <a:t> </a:t>
            </a:r>
            <a:r>
              <a:rPr dirty="0" sz="1100" spc="-65">
                <a:latin typeface="Tahoma"/>
                <a:cs typeface="Tahoma"/>
              </a:rPr>
              <a:t>51.4%)</a:t>
            </a:r>
            <a:r>
              <a:rPr dirty="0" sz="1100" spc="-20">
                <a:latin typeface="Tahoma"/>
                <a:cs typeface="Tahoma"/>
              </a:rPr>
              <a:t> or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silently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fix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it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(Inconsistent:</a:t>
            </a:r>
            <a:r>
              <a:rPr dirty="0" sz="1100" spc="75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44.7%).</a:t>
            </a:r>
            <a:r>
              <a:rPr dirty="0" sz="1100" spc="8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The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8B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model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gets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confused</a:t>
            </a:r>
            <a:r>
              <a:rPr dirty="0" sz="1100" spc="-25">
                <a:latin typeface="Tahoma"/>
                <a:cs typeface="Tahoma"/>
              </a:rPr>
              <a:t> and </a:t>
            </a:r>
            <a:r>
              <a:rPr dirty="0" sz="1100" spc="-45">
                <a:latin typeface="Tahoma"/>
                <a:cs typeface="Tahoma"/>
              </a:rPr>
              <a:t>safely</a:t>
            </a:r>
            <a:r>
              <a:rPr dirty="0" sz="1100" spc="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abstains.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0" y="3130346"/>
            <a:ext cx="5760085" cy="109855"/>
            <a:chOff x="0" y="3130346"/>
            <a:chExt cx="5760085" cy="109855"/>
          </a:xfrm>
        </p:grpSpPr>
        <p:sp>
          <p:nvSpPr>
            <p:cNvPr id="13" name="object 13"/>
            <p:cNvSpPr/>
            <p:nvPr/>
          </p:nvSpPr>
          <p:spPr>
            <a:xfrm>
              <a:off x="0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1919973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3839946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pc="-10"/>
              <a:t>Nguyen</a:t>
            </a:r>
            <a:r>
              <a:rPr dirty="0" spc="55"/>
              <a:t> </a:t>
            </a:r>
            <a:r>
              <a:rPr dirty="0"/>
              <a:t>et</a:t>
            </a:r>
            <a:r>
              <a:rPr dirty="0" spc="60"/>
              <a:t> </a:t>
            </a:r>
            <a:r>
              <a:rPr dirty="0"/>
              <a:t>al.</a:t>
            </a:r>
            <a:r>
              <a:rPr dirty="0" spc="270"/>
              <a:t> </a:t>
            </a:r>
            <a:r>
              <a:rPr dirty="0"/>
              <a:t>(FPT</a:t>
            </a:r>
            <a:r>
              <a:rPr dirty="0" spc="60"/>
              <a:t> </a:t>
            </a:r>
            <a:r>
              <a:rPr dirty="0" spc="-10"/>
              <a:t>University)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2445461" y="3135783"/>
            <a:ext cx="86931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RAG</a:t>
            </a:r>
            <a:r>
              <a:rPr dirty="0" sz="600" spc="-5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Semantic</a:t>
            </a:r>
            <a:r>
              <a:rPr dirty="0" sz="60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Poisoning</a:t>
            </a:r>
            <a:endParaRPr sz="600">
              <a:latin typeface="Arial"/>
              <a:cs typeface="Arial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July</a:t>
            </a:r>
            <a:r>
              <a:rPr dirty="0" spc="20"/>
              <a:t> </a:t>
            </a:r>
            <a:r>
              <a:rPr dirty="0"/>
              <a:t>22,</a:t>
            </a:r>
            <a:r>
              <a:rPr dirty="0" spc="25"/>
              <a:t> </a:t>
            </a:r>
            <a:r>
              <a:rPr dirty="0" spc="-20"/>
              <a:t>2026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dirty="0" spc="-30"/>
              <a:t>1</a:t>
            </a:fld>
            <a:r>
              <a:rPr dirty="0" spc="-60"/>
              <a:t> </a:t>
            </a:r>
            <a:r>
              <a:rPr dirty="0" spc="150"/>
              <a:t>/</a:t>
            </a:r>
            <a:r>
              <a:rPr dirty="0" spc="-60"/>
              <a:t> </a:t>
            </a:r>
            <a:r>
              <a:rPr dirty="0" spc="-50"/>
              <a:t>9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Finding</a:t>
            </a:r>
            <a:r>
              <a:rPr dirty="0" spc="195"/>
              <a:t> </a:t>
            </a:r>
            <a:r>
              <a:rPr dirty="0"/>
              <a:t>2:</a:t>
            </a:r>
            <a:r>
              <a:rPr dirty="0" spc="395"/>
              <a:t> </a:t>
            </a:r>
            <a:r>
              <a:rPr dirty="0"/>
              <a:t>The</a:t>
            </a:r>
            <a:r>
              <a:rPr dirty="0" spc="200"/>
              <a:t> </a:t>
            </a:r>
            <a:r>
              <a:rPr dirty="0"/>
              <a:t>Parametric</a:t>
            </a:r>
            <a:r>
              <a:rPr dirty="0" spc="195"/>
              <a:t> </a:t>
            </a:r>
            <a:r>
              <a:rPr dirty="0" spc="-10"/>
              <a:t>Shield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122337"/>
            <a:ext cx="65265" cy="6526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332369"/>
            <a:ext cx="65265" cy="6526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542402"/>
            <a:ext cx="65265" cy="6526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25844" y="720850"/>
            <a:ext cx="4843145" cy="93027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>
                <a:latin typeface="Tahoma"/>
                <a:cs typeface="Tahoma"/>
              </a:rPr>
              <a:t>What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60">
                <a:latin typeface="Tahoma"/>
                <a:cs typeface="Tahoma"/>
              </a:rPr>
              <a:t>happens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55">
                <a:latin typeface="Tahoma"/>
                <a:cs typeface="Tahoma"/>
              </a:rPr>
              <a:t>when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model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evaluates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b="1">
                <a:latin typeface="Arial"/>
                <a:cs typeface="Arial"/>
              </a:rPr>
              <a:t>Private</a:t>
            </a:r>
            <a:r>
              <a:rPr dirty="0" sz="1100" spc="4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Data</a:t>
            </a:r>
            <a:r>
              <a:rPr dirty="0" sz="1100" spc="10" b="1">
                <a:latin typeface="Arial"/>
                <a:cs typeface="Arial"/>
              </a:rPr>
              <a:t> </a:t>
            </a:r>
            <a:r>
              <a:rPr dirty="0" sz="1100" spc="-10">
                <a:latin typeface="Tahoma"/>
                <a:cs typeface="Tahoma"/>
              </a:rPr>
              <a:t>(no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pretraining</a:t>
            </a:r>
            <a:r>
              <a:rPr dirty="0" sz="1100" spc="-30">
                <a:latin typeface="Tahoma"/>
                <a:cs typeface="Tahoma"/>
              </a:rPr>
              <a:t> exposure)?</a:t>
            </a:r>
            <a:endParaRPr sz="1100">
              <a:latin typeface="Tahoma"/>
              <a:cs typeface="Tahoma"/>
            </a:endParaRPr>
          </a:p>
          <a:p>
            <a:pPr marL="289560" marR="899794">
              <a:lnSpc>
                <a:spcPct val="125299"/>
              </a:lnSpc>
              <a:spcBef>
                <a:spcPts val="850"/>
              </a:spcBef>
            </a:pPr>
            <a:r>
              <a:rPr dirty="0" sz="1100">
                <a:latin typeface="Tahoma"/>
                <a:cs typeface="Tahoma"/>
              </a:rPr>
              <a:t>The</a:t>
            </a:r>
            <a:r>
              <a:rPr dirty="0" sz="1100" spc="-35">
                <a:latin typeface="Tahoma"/>
                <a:cs typeface="Tahoma"/>
              </a:rPr>
              <a:t> model </a:t>
            </a:r>
            <a:r>
              <a:rPr dirty="0" sz="1100" spc="-55">
                <a:latin typeface="Tahoma"/>
                <a:cs typeface="Tahoma"/>
              </a:rPr>
              <a:t>loses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its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“Parametric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Shield”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(internal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knowledge). </a:t>
            </a:r>
            <a:r>
              <a:rPr dirty="0" sz="1100" spc="-40" b="1">
                <a:latin typeface="Arial"/>
                <a:cs typeface="Arial"/>
              </a:rPr>
              <a:t>Inconsistent</a:t>
            </a:r>
            <a:r>
              <a:rPr dirty="0" sz="1100" spc="45" b="1">
                <a:latin typeface="Arial"/>
                <a:cs typeface="Arial"/>
              </a:rPr>
              <a:t> </a:t>
            </a:r>
            <a:r>
              <a:rPr dirty="0" sz="1100" spc="-35" b="1">
                <a:latin typeface="Arial"/>
                <a:cs typeface="Arial"/>
              </a:rPr>
              <a:t>(self-</a:t>
            </a:r>
            <a:r>
              <a:rPr dirty="0" sz="1100" spc="-25" b="1">
                <a:latin typeface="Arial"/>
                <a:cs typeface="Arial"/>
              </a:rPr>
              <a:t>correction)</a:t>
            </a:r>
            <a:r>
              <a:rPr dirty="0" sz="1100" spc="15" b="1">
                <a:latin typeface="Arial"/>
                <a:cs typeface="Arial"/>
              </a:rPr>
              <a:t> </a:t>
            </a:r>
            <a:r>
              <a:rPr dirty="0" sz="1100" spc="-20">
                <a:latin typeface="Tahoma"/>
                <a:cs typeface="Tahoma"/>
              </a:rPr>
              <a:t>rate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plummeted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to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just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55">
                <a:latin typeface="Tahoma"/>
                <a:cs typeface="Tahoma"/>
              </a:rPr>
              <a:t>2.88%. </a:t>
            </a:r>
            <a:r>
              <a:rPr dirty="0" sz="1100" spc="-10" b="1">
                <a:latin typeface="Arial"/>
                <a:cs typeface="Arial"/>
              </a:rPr>
              <a:t>Faithful</a:t>
            </a:r>
            <a:r>
              <a:rPr dirty="0" sz="1100" spc="3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(fooled)</a:t>
            </a:r>
            <a:r>
              <a:rPr dirty="0" sz="1100" spc="5" b="1">
                <a:latin typeface="Arial"/>
                <a:cs typeface="Arial"/>
              </a:rPr>
              <a:t> </a:t>
            </a:r>
            <a:r>
              <a:rPr dirty="0" sz="1100" spc="-20">
                <a:latin typeface="Tahoma"/>
                <a:cs typeface="Tahoma"/>
              </a:rPr>
              <a:t>rate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jumped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to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45.19%.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87743" y="1964054"/>
            <a:ext cx="5584825" cy="187960"/>
          </a:xfrm>
          <a:custGeom>
            <a:avLst/>
            <a:gdLst/>
            <a:ahLst/>
            <a:cxnLst/>
            <a:rect l="l" t="t" r="r" b="b"/>
            <a:pathLst>
              <a:path w="5584825" h="187960">
                <a:moveTo>
                  <a:pt x="5533784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24"/>
                </a:lnTo>
                <a:lnTo>
                  <a:pt x="5584584" y="187824"/>
                </a:lnTo>
                <a:lnTo>
                  <a:pt x="5584584" y="50800"/>
                </a:lnTo>
                <a:lnTo>
                  <a:pt x="5580575" y="31075"/>
                </a:lnTo>
                <a:lnTo>
                  <a:pt x="5569661" y="14922"/>
                </a:lnTo>
                <a:lnTo>
                  <a:pt x="5553509" y="4008"/>
                </a:lnTo>
                <a:lnTo>
                  <a:pt x="5533784" y="0"/>
                </a:lnTo>
                <a:close/>
              </a:path>
            </a:pathLst>
          </a:custGeom>
          <a:solidFill>
            <a:srgbClr val="B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38544" y="1992515"/>
            <a:ext cx="665480" cy="1536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145"/>
              </a:lnSpc>
            </a:pPr>
            <a:r>
              <a:rPr dirty="0" sz="1200" spc="-35">
                <a:solidFill>
                  <a:srgbClr val="FFFFFF"/>
                </a:solidFill>
                <a:latin typeface="Gill Sans MT"/>
                <a:cs typeface="Gill Sans MT"/>
              </a:rPr>
              <a:t>Conclusion</a:t>
            </a:r>
            <a:endParaRPr sz="1200">
              <a:latin typeface="Gill Sans MT"/>
              <a:cs typeface="Gill Sans M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87743" y="2020990"/>
            <a:ext cx="5635625" cy="586105"/>
            <a:chOff x="87743" y="2020990"/>
            <a:chExt cx="5635625" cy="586105"/>
          </a:xfrm>
        </p:grpSpPr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7743" y="2139226"/>
              <a:ext cx="5584583" cy="50609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38544" y="2020990"/>
              <a:ext cx="5584825" cy="586105"/>
            </a:xfrm>
            <a:custGeom>
              <a:avLst/>
              <a:gdLst/>
              <a:ahLst/>
              <a:cxnLst/>
              <a:rect l="l" t="t" r="r" b="b"/>
              <a:pathLst>
                <a:path w="5584825" h="586105">
                  <a:moveTo>
                    <a:pt x="5584583" y="0"/>
                  </a:moveTo>
                  <a:lnTo>
                    <a:pt x="0" y="0"/>
                  </a:lnTo>
                  <a:lnTo>
                    <a:pt x="0" y="585978"/>
                  </a:lnTo>
                  <a:lnTo>
                    <a:pt x="5584583" y="585978"/>
                  </a:lnTo>
                  <a:lnTo>
                    <a:pt x="558458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87743" y="2183508"/>
              <a:ext cx="5584825" cy="372745"/>
            </a:xfrm>
            <a:custGeom>
              <a:avLst/>
              <a:gdLst/>
              <a:ahLst/>
              <a:cxnLst/>
              <a:rect l="l" t="t" r="r" b="b"/>
              <a:pathLst>
                <a:path w="5584825" h="372744">
                  <a:moveTo>
                    <a:pt x="5584584" y="0"/>
                  </a:moveTo>
                  <a:lnTo>
                    <a:pt x="0" y="0"/>
                  </a:lnTo>
                  <a:lnTo>
                    <a:pt x="0" y="321858"/>
                  </a:lnTo>
                  <a:lnTo>
                    <a:pt x="4008" y="341583"/>
                  </a:lnTo>
                  <a:lnTo>
                    <a:pt x="14922" y="357736"/>
                  </a:lnTo>
                  <a:lnTo>
                    <a:pt x="31075" y="368650"/>
                  </a:lnTo>
                  <a:lnTo>
                    <a:pt x="50800" y="372659"/>
                  </a:lnTo>
                  <a:lnTo>
                    <a:pt x="5533784" y="372659"/>
                  </a:lnTo>
                  <a:lnTo>
                    <a:pt x="5553509" y="368650"/>
                  </a:lnTo>
                  <a:lnTo>
                    <a:pt x="5569661" y="357736"/>
                  </a:lnTo>
                  <a:lnTo>
                    <a:pt x="5580575" y="341583"/>
                  </a:lnTo>
                  <a:lnTo>
                    <a:pt x="5584584" y="321858"/>
                  </a:lnTo>
                  <a:lnTo>
                    <a:pt x="5584584" y="0"/>
                  </a:lnTo>
                  <a:close/>
                </a:path>
              </a:pathLst>
            </a:custGeom>
            <a:solidFill>
              <a:srgbClr val="F8E5E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138544" y="2020990"/>
            <a:ext cx="5584825" cy="586105"/>
          </a:xfrm>
          <a:prstGeom prst="rect">
            <a:avLst/>
          </a:prstGeom>
        </p:spPr>
        <p:txBody>
          <a:bodyPr wrap="square" lIns="0" tIns="147320" rIns="0" bIns="0" rtlCol="0" vert="horz">
            <a:spAutoFit/>
          </a:bodyPr>
          <a:lstStyle/>
          <a:p>
            <a:pPr marR="153670">
              <a:lnSpc>
                <a:spcPct val="102600"/>
              </a:lnSpc>
              <a:spcBef>
                <a:spcPts val="1160"/>
              </a:spcBef>
            </a:pPr>
            <a:r>
              <a:rPr dirty="0" sz="1100" spc="-35">
                <a:latin typeface="Tahoma"/>
                <a:cs typeface="Tahoma"/>
              </a:rPr>
              <a:t>Enterprise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RAG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systems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 spc="-65">
                <a:latin typeface="Tahoma"/>
                <a:cs typeface="Tahoma"/>
              </a:rPr>
              <a:t>deployed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on </a:t>
            </a:r>
            <a:r>
              <a:rPr dirty="0" sz="1100" spc="-25">
                <a:latin typeface="Tahoma"/>
                <a:cs typeface="Tahoma"/>
              </a:rPr>
              <a:t>internal/private</a:t>
            </a:r>
            <a:r>
              <a:rPr dirty="0" sz="1100" spc="-10">
                <a:latin typeface="Tahoma"/>
                <a:cs typeface="Tahoma"/>
              </a:rPr>
              <a:t> data </a:t>
            </a:r>
            <a:r>
              <a:rPr dirty="0" sz="1100" spc="-60">
                <a:latin typeface="Tahoma"/>
                <a:cs typeface="Tahoma"/>
              </a:rPr>
              <a:t>are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significantly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60">
                <a:latin typeface="Tahoma"/>
                <a:cs typeface="Tahoma"/>
              </a:rPr>
              <a:t>more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vulnerable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to </a:t>
            </a:r>
            <a:r>
              <a:rPr dirty="0" sz="1100" spc="-35">
                <a:latin typeface="Tahoma"/>
                <a:cs typeface="Tahoma"/>
              </a:rPr>
              <a:t>semantic</a:t>
            </a:r>
            <a:r>
              <a:rPr dirty="0" sz="1100" spc="-40">
                <a:latin typeface="Tahoma"/>
                <a:cs typeface="Tahoma"/>
              </a:rPr>
              <a:t> poisoning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than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those using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public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data.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0" y="3130346"/>
            <a:ext cx="5760085" cy="109855"/>
            <a:chOff x="0" y="3130346"/>
            <a:chExt cx="5760085" cy="109855"/>
          </a:xfrm>
        </p:grpSpPr>
        <p:sp>
          <p:nvSpPr>
            <p:cNvPr id="15" name="object 15"/>
            <p:cNvSpPr/>
            <p:nvPr/>
          </p:nvSpPr>
          <p:spPr>
            <a:xfrm>
              <a:off x="0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1919973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3839946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pc="-10"/>
              <a:t>Nguyen</a:t>
            </a:r>
            <a:r>
              <a:rPr dirty="0" spc="55"/>
              <a:t> </a:t>
            </a:r>
            <a:r>
              <a:rPr dirty="0"/>
              <a:t>et</a:t>
            </a:r>
            <a:r>
              <a:rPr dirty="0" spc="60"/>
              <a:t> </a:t>
            </a:r>
            <a:r>
              <a:rPr dirty="0"/>
              <a:t>al.</a:t>
            </a:r>
            <a:r>
              <a:rPr dirty="0" spc="270"/>
              <a:t> </a:t>
            </a:r>
            <a:r>
              <a:rPr dirty="0"/>
              <a:t>(FPT</a:t>
            </a:r>
            <a:r>
              <a:rPr dirty="0" spc="60"/>
              <a:t> </a:t>
            </a:r>
            <a:r>
              <a:rPr dirty="0" spc="-10"/>
              <a:t>University)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2445461" y="3135783"/>
            <a:ext cx="86931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"/>
                <a:cs typeface="Arial"/>
                <a:hlinkClick r:id="rId6" action="ppaction://hlinksldjump"/>
              </a:rPr>
              <a:t>RAG</a:t>
            </a:r>
            <a:r>
              <a:rPr dirty="0" sz="600" spc="-5">
                <a:solidFill>
                  <a:srgbClr val="FFFFFF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"/>
                <a:cs typeface="Arial"/>
                <a:hlinkClick r:id="rId6" action="ppaction://hlinksldjump"/>
              </a:rPr>
              <a:t>Semantic</a:t>
            </a:r>
            <a:r>
              <a:rPr dirty="0" sz="600">
                <a:solidFill>
                  <a:srgbClr val="FFFFFF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"/>
                <a:cs typeface="Arial"/>
                <a:hlinkClick r:id="rId6" action="ppaction://hlinksldjump"/>
              </a:rPr>
              <a:t>Poisoning</a:t>
            </a:r>
            <a:endParaRPr sz="600">
              <a:latin typeface="Arial"/>
              <a:cs typeface="Arial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July</a:t>
            </a:r>
            <a:r>
              <a:rPr dirty="0" spc="20"/>
              <a:t> </a:t>
            </a:r>
            <a:r>
              <a:rPr dirty="0"/>
              <a:t>22,</a:t>
            </a:r>
            <a:r>
              <a:rPr dirty="0" spc="25"/>
              <a:t> </a:t>
            </a:r>
            <a:r>
              <a:rPr dirty="0" spc="-20"/>
              <a:t>2026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dirty="0" spc="-30"/>
              <a:t>1</a:t>
            </a:fld>
            <a:r>
              <a:rPr dirty="0" spc="-60"/>
              <a:t> </a:t>
            </a:r>
            <a:r>
              <a:rPr dirty="0" spc="150"/>
              <a:t>/</a:t>
            </a:r>
            <a:r>
              <a:rPr dirty="0" spc="-60"/>
              <a:t> </a:t>
            </a:r>
            <a:r>
              <a:rPr dirty="0" spc="-50"/>
              <a:t>9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Finding</a:t>
            </a:r>
            <a:r>
              <a:rPr dirty="0" spc="150"/>
              <a:t> </a:t>
            </a:r>
            <a:r>
              <a:rPr dirty="0"/>
              <a:t>3:</a:t>
            </a:r>
            <a:r>
              <a:rPr dirty="0" spc="340"/>
              <a:t> </a:t>
            </a:r>
            <a:r>
              <a:rPr dirty="0"/>
              <a:t>Prompt</a:t>
            </a:r>
            <a:r>
              <a:rPr dirty="0" spc="155"/>
              <a:t> </a:t>
            </a:r>
            <a:r>
              <a:rPr dirty="0"/>
              <a:t>Engineering</a:t>
            </a:r>
            <a:r>
              <a:rPr dirty="0" spc="155"/>
              <a:t> </a:t>
            </a:r>
            <a:r>
              <a:rPr dirty="0"/>
              <a:t>is</a:t>
            </a:r>
            <a:r>
              <a:rPr dirty="0" spc="160"/>
              <a:t> </a:t>
            </a:r>
            <a:r>
              <a:rPr dirty="0" spc="65"/>
              <a:t>a</a:t>
            </a:r>
            <a:r>
              <a:rPr dirty="0" spc="155"/>
              <a:t> </a:t>
            </a:r>
            <a:r>
              <a:rPr dirty="0"/>
              <a:t>Shield,</a:t>
            </a:r>
            <a:r>
              <a:rPr dirty="0" spc="160"/>
              <a:t> </a:t>
            </a:r>
            <a:r>
              <a:rPr dirty="0"/>
              <a:t>Not</a:t>
            </a:r>
            <a:r>
              <a:rPr dirty="0" spc="160"/>
              <a:t> </a:t>
            </a:r>
            <a:r>
              <a:rPr dirty="0" spc="65"/>
              <a:t>a</a:t>
            </a:r>
            <a:r>
              <a:rPr dirty="0" spc="155"/>
              <a:t> </a:t>
            </a:r>
            <a:r>
              <a:rPr dirty="0" spc="-20"/>
              <a:t>Cure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086726"/>
            <a:ext cx="65265" cy="6526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0865" y="1276540"/>
            <a:ext cx="52590" cy="5259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0865" y="1428369"/>
            <a:ext cx="52590" cy="5259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1759038"/>
            <a:ext cx="65265" cy="6526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1089" y="2077072"/>
            <a:ext cx="65265" cy="6526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02932" y="978218"/>
            <a:ext cx="4902200" cy="1207135"/>
          </a:xfrm>
          <a:prstGeom prst="rect">
            <a:avLst/>
          </a:prstGeom>
        </p:spPr>
        <p:txBody>
          <a:bodyPr wrap="square" lIns="0" tIns="361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dirty="0" sz="1100" spc="-20">
                <a:latin typeface="Tahoma"/>
                <a:cs typeface="Tahoma"/>
              </a:rPr>
              <a:t>Adding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55">
                <a:latin typeface="Tahoma"/>
                <a:cs typeface="Tahoma"/>
              </a:rPr>
              <a:t>defensive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System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Prompt</a:t>
            </a:r>
            <a:r>
              <a:rPr dirty="0" sz="1100" spc="-40">
                <a:latin typeface="Tahoma"/>
                <a:cs typeface="Tahoma"/>
              </a:rPr>
              <a:t> effectively </a:t>
            </a:r>
            <a:r>
              <a:rPr dirty="0" sz="1100" spc="-10">
                <a:latin typeface="Tahoma"/>
                <a:cs typeface="Tahoma"/>
              </a:rPr>
              <a:t>acts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as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an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immune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response:</a:t>
            </a:r>
            <a:endParaRPr sz="1100">
              <a:latin typeface="Tahoma"/>
              <a:cs typeface="Tahoma"/>
            </a:endParaRPr>
          </a:p>
          <a:p>
            <a:pPr marL="289560">
              <a:lnSpc>
                <a:spcPts val="1200"/>
              </a:lnSpc>
              <a:spcBef>
                <a:spcPts val="175"/>
              </a:spcBef>
            </a:pPr>
            <a:r>
              <a:rPr dirty="0" sz="1000">
                <a:latin typeface="Tahoma"/>
                <a:cs typeface="Tahoma"/>
              </a:rPr>
              <a:t>17B</a:t>
            </a:r>
            <a:r>
              <a:rPr dirty="0" sz="1000" spc="-4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Abstain</a:t>
            </a:r>
            <a:r>
              <a:rPr dirty="0" sz="1000" spc="-20">
                <a:latin typeface="Tahoma"/>
                <a:cs typeface="Tahoma"/>
              </a:rPr>
              <a:t> rate:</a:t>
            </a:r>
            <a:r>
              <a:rPr dirty="0" sz="1000" spc="70">
                <a:latin typeface="Tahoma"/>
                <a:cs typeface="Tahoma"/>
              </a:rPr>
              <a:t> </a:t>
            </a:r>
            <a:r>
              <a:rPr dirty="0" sz="1000" spc="-70">
                <a:latin typeface="Tahoma"/>
                <a:cs typeface="Tahoma"/>
              </a:rPr>
              <a:t>3.61%</a:t>
            </a:r>
            <a:r>
              <a:rPr dirty="0" sz="1000" spc="-5">
                <a:latin typeface="Tahoma"/>
                <a:cs typeface="Tahoma"/>
              </a:rPr>
              <a:t> </a:t>
            </a:r>
            <a:r>
              <a:rPr dirty="0" sz="1000" i="1">
                <a:latin typeface="Arial"/>
                <a:cs typeface="Arial"/>
              </a:rPr>
              <a:t>→</a:t>
            </a:r>
            <a:r>
              <a:rPr dirty="0" sz="1000" spc="10" i="1">
                <a:latin typeface="Arial"/>
                <a:cs typeface="Arial"/>
              </a:rPr>
              <a:t> </a:t>
            </a:r>
            <a:r>
              <a:rPr dirty="0" sz="1000" spc="-10" b="1">
                <a:latin typeface="Arial"/>
                <a:cs typeface="Arial"/>
              </a:rPr>
              <a:t>60.10%</a:t>
            </a:r>
            <a:endParaRPr sz="1000">
              <a:latin typeface="Arial"/>
              <a:cs typeface="Arial"/>
            </a:endParaRPr>
          </a:p>
          <a:p>
            <a:pPr marL="289560">
              <a:lnSpc>
                <a:spcPts val="1200"/>
              </a:lnSpc>
            </a:pPr>
            <a:r>
              <a:rPr dirty="0" sz="1000">
                <a:latin typeface="Tahoma"/>
                <a:cs typeface="Tahoma"/>
              </a:rPr>
              <a:t>8B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Abstain </a:t>
            </a:r>
            <a:r>
              <a:rPr dirty="0" sz="1000" spc="-20">
                <a:latin typeface="Tahoma"/>
                <a:cs typeface="Tahoma"/>
              </a:rPr>
              <a:t>rate:</a:t>
            </a:r>
            <a:r>
              <a:rPr dirty="0" sz="1000" spc="90">
                <a:latin typeface="Tahoma"/>
                <a:cs typeface="Tahoma"/>
              </a:rPr>
              <a:t> </a:t>
            </a:r>
            <a:r>
              <a:rPr dirty="0" sz="1000" spc="-65">
                <a:latin typeface="Tahoma"/>
                <a:cs typeface="Tahoma"/>
              </a:rPr>
              <a:t>42.55%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i="1">
                <a:latin typeface="Arial"/>
                <a:cs typeface="Arial"/>
              </a:rPr>
              <a:t>→</a:t>
            </a:r>
            <a:r>
              <a:rPr dirty="0" sz="1000" spc="25" i="1">
                <a:latin typeface="Arial"/>
                <a:cs typeface="Arial"/>
              </a:rPr>
              <a:t> </a:t>
            </a:r>
            <a:r>
              <a:rPr dirty="0" sz="1000" spc="-10" b="1">
                <a:latin typeface="Arial"/>
                <a:cs typeface="Arial"/>
              </a:rPr>
              <a:t>63.70%</a:t>
            </a: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4"/>
              </a:spcBef>
            </a:pP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00" spc="-50">
                <a:latin typeface="Tahoma"/>
                <a:cs typeface="Tahoma"/>
              </a:rPr>
              <a:t>However,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10" b="1">
                <a:latin typeface="Arial"/>
                <a:cs typeface="Arial"/>
              </a:rPr>
              <a:t>no</a:t>
            </a:r>
            <a:r>
              <a:rPr dirty="0" sz="1100" spc="5" b="1">
                <a:latin typeface="Arial"/>
                <a:cs typeface="Arial"/>
              </a:rPr>
              <a:t> </a:t>
            </a:r>
            <a:r>
              <a:rPr dirty="0" sz="1100" spc="-40" b="1">
                <a:latin typeface="Arial"/>
                <a:cs typeface="Arial"/>
              </a:rPr>
              <a:t>configuration</a:t>
            </a:r>
            <a:r>
              <a:rPr dirty="0" sz="1100" spc="10" b="1">
                <a:latin typeface="Arial"/>
                <a:cs typeface="Arial"/>
              </a:rPr>
              <a:t> </a:t>
            </a:r>
            <a:r>
              <a:rPr dirty="0" sz="1100" spc="-55">
                <a:latin typeface="Tahoma"/>
                <a:cs typeface="Tahoma"/>
              </a:rPr>
              <a:t>achieved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245" i="1">
                <a:latin typeface="Arial"/>
                <a:cs typeface="Arial"/>
              </a:rPr>
              <a:t>≥</a:t>
            </a:r>
            <a:r>
              <a:rPr dirty="0" sz="1100" spc="-45" i="1">
                <a:latin typeface="Arial"/>
                <a:cs typeface="Arial"/>
              </a:rPr>
              <a:t> </a:t>
            </a:r>
            <a:r>
              <a:rPr dirty="0" sz="1100" spc="-100">
                <a:latin typeface="Tahoma"/>
                <a:cs typeface="Tahoma"/>
              </a:rPr>
              <a:t>90%</a:t>
            </a:r>
            <a:r>
              <a:rPr dirty="0" sz="1100" spc="1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Abstain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safety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threshold.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185"/>
              </a:spcBef>
            </a:pPr>
            <a:r>
              <a:rPr dirty="0" sz="1100" spc="-55" b="1">
                <a:latin typeface="Arial"/>
                <a:cs typeface="Arial"/>
              </a:rPr>
              <a:t>Conclusion:</a:t>
            </a:r>
            <a:r>
              <a:rPr dirty="0" sz="1100" spc="85" b="1">
                <a:latin typeface="Arial"/>
                <a:cs typeface="Arial"/>
              </a:rPr>
              <a:t> </a:t>
            </a:r>
            <a:r>
              <a:rPr dirty="0" sz="1100" spc="-10">
                <a:latin typeface="Tahoma"/>
                <a:cs typeface="Tahoma"/>
              </a:rPr>
              <a:t>Lexical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instructions</a:t>
            </a:r>
            <a:r>
              <a:rPr dirty="0" sz="1100" spc="-40">
                <a:latin typeface="Tahoma"/>
                <a:cs typeface="Tahoma"/>
              </a:rPr>
              <a:t> alone </a:t>
            </a:r>
            <a:r>
              <a:rPr dirty="0" sz="1100" spc="-30">
                <a:latin typeface="Tahoma"/>
                <a:cs typeface="Tahoma"/>
              </a:rPr>
              <a:t>cannot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override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60">
                <a:latin typeface="Tahoma"/>
                <a:cs typeface="Tahoma"/>
              </a:rPr>
              <a:t>deep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semantic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manipulation.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0" y="3130346"/>
            <a:ext cx="5760085" cy="109855"/>
            <a:chOff x="0" y="3130346"/>
            <a:chExt cx="5760085" cy="109855"/>
          </a:xfrm>
        </p:grpSpPr>
        <p:sp>
          <p:nvSpPr>
            <p:cNvPr id="10" name="object 10"/>
            <p:cNvSpPr/>
            <p:nvPr/>
          </p:nvSpPr>
          <p:spPr>
            <a:xfrm>
              <a:off x="0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1919973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3839946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pc="-10"/>
              <a:t>Nguyen</a:t>
            </a:r>
            <a:r>
              <a:rPr dirty="0" spc="55"/>
              <a:t> </a:t>
            </a:r>
            <a:r>
              <a:rPr dirty="0"/>
              <a:t>et</a:t>
            </a:r>
            <a:r>
              <a:rPr dirty="0" spc="60"/>
              <a:t> </a:t>
            </a:r>
            <a:r>
              <a:rPr dirty="0"/>
              <a:t>al.</a:t>
            </a:r>
            <a:r>
              <a:rPr dirty="0" spc="270"/>
              <a:t> </a:t>
            </a:r>
            <a:r>
              <a:rPr dirty="0"/>
              <a:t>(FPT</a:t>
            </a:r>
            <a:r>
              <a:rPr dirty="0" spc="60"/>
              <a:t> </a:t>
            </a:r>
            <a:r>
              <a:rPr dirty="0" spc="-10"/>
              <a:t>University)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2445461" y="3135783"/>
            <a:ext cx="86931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"/>
                <a:cs typeface="Arial"/>
                <a:hlinkClick r:id="rId7" action="ppaction://hlinksldjump"/>
              </a:rPr>
              <a:t>RAG</a:t>
            </a:r>
            <a:r>
              <a:rPr dirty="0" sz="600" spc="-5">
                <a:solidFill>
                  <a:srgbClr val="FFFFFF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"/>
                <a:cs typeface="Arial"/>
                <a:hlinkClick r:id="rId7" action="ppaction://hlinksldjump"/>
              </a:rPr>
              <a:t>Semantic</a:t>
            </a:r>
            <a:r>
              <a:rPr dirty="0" sz="600">
                <a:solidFill>
                  <a:srgbClr val="FFFFFF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"/>
                <a:cs typeface="Arial"/>
                <a:hlinkClick r:id="rId7" action="ppaction://hlinksldjump"/>
              </a:rPr>
              <a:t>Poisoning</a:t>
            </a:r>
            <a:endParaRPr sz="600">
              <a:latin typeface="Arial"/>
              <a:cs typeface="Arial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July</a:t>
            </a:r>
            <a:r>
              <a:rPr dirty="0" spc="20"/>
              <a:t> </a:t>
            </a:r>
            <a:r>
              <a:rPr dirty="0"/>
              <a:t>22,</a:t>
            </a:r>
            <a:r>
              <a:rPr dirty="0" spc="25"/>
              <a:t> </a:t>
            </a:r>
            <a:r>
              <a:rPr dirty="0" spc="-20"/>
              <a:t>2026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dirty="0" spc="-30"/>
              <a:t>1</a:t>
            </a:fld>
            <a:r>
              <a:rPr dirty="0" spc="-60"/>
              <a:t> </a:t>
            </a:r>
            <a:r>
              <a:rPr dirty="0" spc="150"/>
              <a:t>/</a:t>
            </a:r>
            <a:r>
              <a:rPr dirty="0" spc="-60"/>
              <a:t> </a:t>
            </a:r>
            <a:r>
              <a:rPr dirty="0" spc="-50"/>
              <a:t>9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Finding</a:t>
            </a:r>
            <a:r>
              <a:rPr dirty="0" spc="204"/>
              <a:t> </a:t>
            </a:r>
            <a:r>
              <a:rPr dirty="0"/>
              <a:t>4:</a:t>
            </a:r>
            <a:r>
              <a:rPr dirty="0" spc="400"/>
              <a:t> </a:t>
            </a:r>
            <a:r>
              <a:rPr dirty="0"/>
              <a:t>The</a:t>
            </a:r>
            <a:r>
              <a:rPr dirty="0" spc="204"/>
              <a:t> </a:t>
            </a:r>
            <a:r>
              <a:rPr dirty="0"/>
              <a:t>Hallucination</a:t>
            </a:r>
            <a:r>
              <a:rPr dirty="0" spc="215"/>
              <a:t> </a:t>
            </a:r>
            <a:r>
              <a:rPr dirty="0" spc="30"/>
              <a:t>Myth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824572"/>
            <a:ext cx="65265" cy="6526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106601"/>
            <a:ext cx="65265" cy="6526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540459"/>
            <a:ext cx="65265" cy="6526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2932" y="741119"/>
            <a:ext cx="5199380" cy="105981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35" b="1">
                <a:latin typeface="Arial"/>
                <a:cs typeface="Arial"/>
              </a:rPr>
              <a:t>Hallucinations</a:t>
            </a:r>
            <a:r>
              <a:rPr dirty="0" sz="1100" spc="5" b="1">
                <a:latin typeface="Arial"/>
                <a:cs typeface="Arial"/>
              </a:rPr>
              <a:t> </a:t>
            </a:r>
            <a:r>
              <a:rPr dirty="0" sz="1100" spc="-60">
                <a:latin typeface="Tahoma"/>
                <a:cs typeface="Tahoma"/>
              </a:rPr>
              <a:t>are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often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considered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biggest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threat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in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LLMs.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dirty="0" sz="1100" spc="-20">
                <a:latin typeface="Tahoma"/>
                <a:cs typeface="Tahoma"/>
              </a:rPr>
              <a:t>Across</a:t>
            </a:r>
            <a:r>
              <a:rPr dirty="0" sz="1100" spc="-50">
                <a:latin typeface="Tahoma"/>
                <a:cs typeface="Tahoma"/>
              </a:rPr>
              <a:t> over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2,000</a:t>
            </a:r>
            <a:r>
              <a:rPr dirty="0" sz="1100" spc="-35">
                <a:latin typeface="Tahoma"/>
                <a:cs typeface="Tahoma"/>
              </a:rPr>
              <a:t> automated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evaluations,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hallucination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rate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35" b="1">
                <a:latin typeface="Arial"/>
                <a:cs typeface="Arial"/>
              </a:rPr>
              <a:t>never</a:t>
            </a:r>
            <a:r>
              <a:rPr dirty="0" sz="1100" spc="35" b="1">
                <a:latin typeface="Arial"/>
                <a:cs typeface="Arial"/>
              </a:rPr>
              <a:t> </a:t>
            </a:r>
            <a:r>
              <a:rPr dirty="0" sz="1100" spc="-55" b="1">
                <a:latin typeface="Arial"/>
                <a:cs typeface="Arial"/>
              </a:rPr>
              <a:t>exceeded</a:t>
            </a:r>
            <a:r>
              <a:rPr dirty="0" sz="1100" spc="30" b="1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0.24%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100" spc="-35">
                <a:latin typeface="Tahoma"/>
                <a:cs typeface="Tahoma"/>
              </a:rPr>
              <a:t>(effectively</a:t>
            </a:r>
            <a:r>
              <a:rPr dirty="0" sz="1100" spc="1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zero).</a:t>
            </a:r>
            <a:endParaRPr sz="1100">
              <a:latin typeface="Tahoma"/>
              <a:cs typeface="Tahoma"/>
            </a:endParaRPr>
          </a:p>
          <a:p>
            <a:pPr marL="12700" marR="131445">
              <a:lnSpc>
                <a:spcPts val="1200"/>
              </a:lnSpc>
              <a:spcBef>
                <a:spcPts val="880"/>
              </a:spcBef>
            </a:pPr>
            <a:r>
              <a:rPr dirty="0" sz="1100" spc="-20">
                <a:latin typeface="Tahoma"/>
                <a:cs typeface="Tahoma"/>
              </a:rPr>
              <a:t>When</a:t>
            </a:r>
            <a:r>
              <a:rPr dirty="0" sz="1100" spc="-45">
                <a:latin typeface="Tahoma"/>
                <a:cs typeface="Tahoma"/>
              </a:rPr>
              <a:t> poisoned,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RAG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models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do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not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invent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random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facts.</a:t>
            </a:r>
            <a:r>
              <a:rPr dirty="0" sz="1100" spc="6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They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exhibit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binary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failure </a:t>
            </a:r>
            <a:r>
              <a:rPr dirty="0" sz="1100" spc="-10">
                <a:latin typeface="Tahoma"/>
                <a:cs typeface="Tahoma"/>
              </a:rPr>
              <a:t>mode: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10108" y="1843566"/>
            <a:ext cx="114214" cy="114214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534352" y="1830646"/>
            <a:ext cx="6604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5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600">
              <a:latin typeface="Arial"/>
              <a:cs typeface="Arial"/>
            </a:endParaRPr>
          </a:p>
        </p:txBody>
      </p:sp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10108" y="1995408"/>
            <a:ext cx="114214" cy="114214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534352" y="1982475"/>
            <a:ext cx="6604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5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6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80034" y="1797994"/>
            <a:ext cx="2520950" cy="3295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1200"/>
              </a:lnSpc>
              <a:spcBef>
                <a:spcPts val="95"/>
              </a:spcBef>
            </a:pPr>
            <a:r>
              <a:rPr dirty="0" sz="1000" spc="-30">
                <a:latin typeface="Tahoma"/>
                <a:cs typeface="Tahoma"/>
              </a:rPr>
              <a:t>Passively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trust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the</a:t>
            </a:r>
            <a:r>
              <a:rPr dirty="0" sz="1000" spc="-25">
                <a:latin typeface="Tahoma"/>
                <a:cs typeface="Tahoma"/>
              </a:rPr>
              <a:t> poison </a:t>
            </a:r>
            <a:r>
              <a:rPr dirty="0" sz="1000" spc="-10">
                <a:latin typeface="Tahoma"/>
                <a:cs typeface="Tahoma"/>
              </a:rPr>
              <a:t>(Faithful).</a:t>
            </a:r>
            <a:endParaRPr sz="1000">
              <a:latin typeface="Tahoma"/>
              <a:cs typeface="Tahoma"/>
            </a:endParaRPr>
          </a:p>
          <a:p>
            <a:pPr marL="12700">
              <a:lnSpc>
                <a:spcPts val="1200"/>
              </a:lnSpc>
            </a:pPr>
            <a:r>
              <a:rPr dirty="0" sz="1000" spc="-20">
                <a:latin typeface="Tahoma"/>
                <a:cs typeface="Tahoma"/>
              </a:rPr>
              <a:t>Rebel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and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silently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fix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the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poison</a:t>
            </a:r>
            <a:r>
              <a:rPr dirty="0" sz="1000" spc="-30">
                <a:latin typeface="Tahoma"/>
                <a:cs typeface="Tahoma"/>
              </a:rPr>
              <a:t> (Inconsistent).</a:t>
            </a:r>
            <a:endParaRPr sz="1000">
              <a:latin typeface="Tahoma"/>
              <a:cs typeface="Tahoma"/>
            </a:endParaRPr>
          </a:p>
        </p:txBody>
      </p:sp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81089" y="2328595"/>
            <a:ext cx="65265" cy="65265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402932" y="2245142"/>
            <a:ext cx="4728845" cy="363855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 marR="5080">
              <a:lnSpc>
                <a:spcPct val="102699"/>
              </a:lnSpc>
              <a:spcBef>
                <a:spcPts val="55"/>
              </a:spcBef>
            </a:pPr>
            <a:r>
              <a:rPr dirty="0" sz="1100" b="1">
                <a:latin typeface="Arial"/>
                <a:cs typeface="Arial"/>
              </a:rPr>
              <a:t>Shift in</a:t>
            </a:r>
            <a:r>
              <a:rPr dirty="0" sz="1100" spc="25" b="1">
                <a:latin typeface="Arial"/>
                <a:cs typeface="Arial"/>
              </a:rPr>
              <a:t> </a:t>
            </a:r>
            <a:r>
              <a:rPr dirty="0" sz="1100" spc="-55" b="1">
                <a:latin typeface="Arial"/>
                <a:cs typeface="Arial"/>
              </a:rPr>
              <a:t>Focus:</a:t>
            </a:r>
            <a:r>
              <a:rPr dirty="0" sz="1100" spc="95" b="1">
                <a:latin typeface="Arial"/>
                <a:cs typeface="Arial"/>
              </a:rPr>
              <a:t> </a:t>
            </a:r>
            <a:r>
              <a:rPr dirty="0" sz="1100" spc="-25">
                <a:latin typeface="Tahoma"/>
                <a:cs typeface="Tahoma"/>
              </a:rPr>
              <a:t>Security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 spc="-55">
                <a:latin typeface="Tahoma"/>
                <a:cs typeface="Tahoma"/>
              </a:rPr>
              <a:t>research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must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pivot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from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60">
                <a:latin typeface="Tahoma"/>
                <a:cs typeface="Tahoma"/>
              </a:rPr>
              <a:t>measuring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“hallucinations”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to </a:t>
            </a:r>
            <a:r>
              <a:rPr dirty="0" sz="1100" spc="-60">
                <a:latin typeface="Tahoma"/>
                <a:cs typeface="Tahoma"/>
              </a:rPr>
              <a:t>measuring</a:t>
            </a:r>
            <a:r>
              <a:rPr dirty="0" sz="1100" spc="5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“faithfulness</a:t>
            </a:r>
            <a:r>
              <a:rPr dirty="0" sz="1100" spc="1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to</a:t>
            </a:r>
            <a:r>
              <a:rPr dirty="0" sz="1100" spc="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poison.”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0" y="3130346"/>
            <a:ext cx="5760085" cy="109855"/>
            <a:chOff x="0" y="3130346"/>
            <a:chExt cx="5760085" cy="109855"/>
          </a:xfrm>
        </p:grpSpPr>
        <p:sp>
          <p:nvSpPr>
            <p:cNvPr id="15" name="object 15"/>
            <p:cNvSpPr/>
            <p:nvPr/>
          </p:nvSpPr>
          <p:spPr>
            <a:xfrm>
              <a:off x="0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1919973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3839933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pc="-10"/>
              <a:t>Nguyen</a:t>
            </a:r>
            <a:r>
              <a:rPr dirty="0" spc="55"/>
              <a:t> </a:t>
            </a:r>
            <a:r>
              <a:rPr dirty="0"/>
              <a:t>et</a:t>
            </a:r>
            <a:r>
              <a:rPr dirty="0" spc="60"/>
              <a:t> </a:t>
            </a:r>
            <a:r>
              <a:rPr dirty="0"/>
              <a:t>al.</a:t>
            </a:r>
            <a:r>
              <a:rPr dirty="0" spc="270"/>
              <a:t> </a:t>
            </a:r>
            <a:r>
              <a:rPr dirty="0"/>
              <a:t>(FPT</a:t>
            </a:r>
            <a:r>
              <a:rPr dirty="0" spc="60"/>
              <a:t> </a:t>
            </a:r>
            <a:r>
              <a:rPr dirty="0" spc="-10"/>
              <a:t>University)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2445461" y="3135783"/>
            <a:ext cx="86931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"/>
                <a:cs typeface="Arial"/>
                <a:hlinkClick r:id="rId8" action="ppaction://hlinksldjump"/>
              </a:rPr>
              <a:t>RAG</a:t>
            </a:r>
            <a:r>
              <a:rPr dirty="0" sz="600" spc="-5">
                <a:solidFill>
                  <a:srgbClr val="FFFFFF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"/>
                <a:cs typeface="Arial"/>
                <a:hlinkClick r:id="rId8" action="ppaction://hlinksldjump"/>
              </a:rPr>
              <a:t>Semantic</a:t>
            </a:r>
            <a:r>
              <a:rPr dirty="0" sz="600">
                <a:solidFill>
                  <a:srgbClr val="FFFFFF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"/>
                <a:cs typeface="Arial"/>
                <a:hlinkClick r:id="rId8" action="ppaction://hlinksldjump"/>
              </a:rPr>
              <a:t>Poisoning</a:t>
            </a:r>
            <a:endParaRPr sz="600">
              <a:latin typeface="Arial"/>
              <a:cs typeface="Arial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July</a:t>
            </a:r>
            <a:r>
              <a:rPr dirty="0" spc="20"/>
              <a:t> </a:t>
            </a:r>
            <a:r>
              <a:rPr dirty="0"/>
              <a:t>22,</a:t>
            </a:r>
            <a:r>
              <a:rPr dirty="0" spc="25"/>
              <a:t> </a:t>
            </a:r>
            <a:r>
              <a:rPr dirty="0" spc="-20"/>
              <a:t>2026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dirty="0" spc="-30"/>
              <a:t>1</a:t>
            </a:fld>
            <a:r>
              <a:rPr dirty="0" spc="-60"/>
              <a:t> </a:t>
            </a:r>
            <a:r>
              <a:rPr dirty="0" spc="150"/>
              <a:t>/</a:t>
            </a:r>
            <a:r>
              <a:rPr dirty="0" spc="-60"/>
              <a:t> </a:t>
            </a:r>
            <a:r>
              <a:rPr dirty="0" spc="-50"/>
              <a:t>9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5300" y="59877"/>
            <a:ext cx="824230" cy="24447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10"/>
              <a:t>Conclusion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721842"/>
            <a:ext cx="65265" cy="6526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211948"/>
            <a:ext cx="65265" cy="6526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702066"/>
            <a:ext cx="65265" cy="6526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 marR="469265">
              <a:lnSpc>
                <a:spcPct val="102699"/>
              </a:lnSpc>
              <a:spcBef>
                <a:spcPts val="55"/>
              </a:spcBef>
            </a:pPr>
            <a:r>
              <a:rPr dirty="0" spc="-40" b="1">
                <a:latin typeface="Arial"/>
                <a:cs typeface="Arial"/>
              </a:rPr>
              <a:t>Scale</a:t>
            </a:r>
            <a:r>
              <a:rPr dirty="0" b="1">
                <a:latin typeface="Arial"/>
                <a:cs typeface="Arial"/>
              </a:rPr>
              <a:t> </a:t>
            </a:r>
            <a:r>
              <a:rPr dirty="0" spc="-10" b="1">
                <a:latin typeface="Arial"/>
                <a:cs typeface="Arial"/>
              </a:rPr>
              <a:t>vs.</a:t>
            </a:r>
            <a:r>
              <a:rPr dirty="0" spc="125" b="1">
                <a:latin typeface="Arial"/>
                <a:cs typeface="Arial"/>
              </a:rPr>
              <a:t> </a:t>
            </a:r>
            <a:r>
              <a:rPr dirty="0" spc="-10" b="1">
                <a:latin typeface="Arial"/>
                <a:cs typeface="Arial"/>
              </a:rPr>
              <a:t>Safety:</a:t>
            </a:r>
            <a:r>
              <a:rPr dirty="0" spc="90" b="1">
                <a:latin typeface="Arial"/>
                <a:cs typeface="Arial"/>
              </a:rPr>
              <a:t> </a:t>
            </a:r>
            <a:r>
              <a:rPr dirty="0"/>
              <a:t>RAG</a:t>
            </a:r>
            <a:r>
              <a:rPr dirty="0" spc="-50"/>
              <a:t> </a:t>
            </a:r>
            <a:r>
              <a:rPr dirty="0" spc="-30"/>
              <a:t>vulnerability</a:t>
            </a:r>
            <a:r>
              <a:rPr dirty="0" spc="-50"/>
              <a:t> </a:t>
            </a:r>
            <a:r>
              <a:rPr dirty="0" spc="-45"/>
              <a:t>scales </a:t>
            </a:r>
            <a:r>
              <a:rPr dirty="0" i="1">
                <a:latin typeface="Calibri"/>
                <a:cs typeface="Calibri"/>
              </a:rPr>
              <a:t>inversely</a:t>
            </a:r>
            <a:r>
              <a:rPr dirty="0" spc="145" i="1">
                <a:latin typeface="Calibri"/>
                <a:cs typeface="Calibri"/>
              </a:rPr>
              <a:t> </a:t>
            </a:r>
            <a:r>
              <a:rPr dirty="0"/>
              <a:t>with</a:t>
            </a:r>
            <a:r>
              <a:rPr dirty="0" spc="-45"/>
              <a:t> </a:t>
            </a:r>
            <a:r>
              <a:rPr dirty="0" spc="-35"/>
              <a:t>model</a:t>
            </a:r>
            <a:r>
              <a:rPr dirty="0" spc="-50"/>
              <a:t> </a:t>
            </a:r>
            <a:r>
              <a:rPr dirty="0" spc="-25"/>
              <a:t>size</a:t>
            </a:r>
            <a:r>
              <a:rPr dirty="0" spc="-45"/>
              <a:t> </a:t>
            </a:r>
            <a:r>
              <a:rPr dirty="0" spc="-55"/>
              <a:t>when</a:t>
            </a:r>
            <a:r>
              <a:rPr dirty="0" spc="-30"/>
              <a:t> </a:t>
            </a:r>
            <a:r>
              <a:rPr dirty="0" spc="-20"/>
              <a:t>left </a:t>
            </a:r>
            <a:r>
              <a:rPr dirty="0" spc="-10"/>
              <a:t>unprotected.</a:t>
            </a:r>
          </a:p>
          <a:p>
            <a:pPr marL="12700" marR="5080">
              <a:lnSpc>
                <a:spcPct val="102600"/>
              </a:lnSpc>
              <a:spcBef>
                <a:spcPts val="1150"/>
              </a:spcBef>
            </a:pPr>
            <a:r>
              <a:rPr dirty="0" b="1">
                <a:latin typeface="Arial"/>
                <a:cs typeface="Arial"/>
              </a:rPr>
              <a:t>Data</a:t>
            </a:r>
            <a:r>
              <a:rPr dirty="0" spc="40" b="1">
                <a:latin typeface="Arial"/>
                <a:cs typeface="Arial"/>
              </a:rPr>
              <a:t> </a:t>
            </a:r>
            <a:r>
              <a:rPr dirty="0" spc="-25" b="1">
                <a:latin typeface="Arial"/>
                <a:cs typeface="Arial"/>
              </a:rPr>
              <a:t>Privacy</a:t>
            </a:r>
            <a:r>
              <a:rPr dirty="0" spc="45" b="1">
                <a:latin typeface="Arial"/>
                <a:cs typeface="Arial"/>
              </a:rPr>
              <a:t> </a:t>
            </a:r>
            <a:r>
              <a:rPr dirty="0" spc="-35" b="1">
                <a:latin typeface="Arial"/>
                <a:cs typeface="Arial"/>
              </a:rPr>
              <a:t>Risk:</a:t>
            </a:r>
            <a:r>
              <a:rPr dirty="0" spc="110" b="1">
                <a:latin typeface="Arial"/>
                <a:cs typeface="Arial"/>
              </a:rPr>
              <a:t> </a:t>
            </a:r>
            <a:r>
              <a:rPr dirty="0" spc="-10"/>
              <a:t>Private,</a:t>
            </a:r>
            <a:r>
              <a:rPr dirty="0" spc="-25"/>
              <a:t> internal </a:t>
            </a:r>
            <a:r>
              <a:rPr dirty="0" spc="-10"/>
              <a:t>data</a:t>
            </a:r>
            <a:r>
              <a:rPr dirty="0" spc="-25"/>
              <a:t> </a:t>
            </a:r>
            <a:r>
              <a:rPr dirty="0" spc="-60"/>
              <a:t>exposes</a:t>
            </a:r>
            <a:r>
              <a:rPr dirty="0" spc="-25"/>
              <a:t> </a:t>
            </a:r>
            <a:r>
              <a:rPr dirty="0"/>
              <a:t>RAG</a:t>
            </a:r>
            <a:r>
              <a:rPr dirty="0" spc="-30"/>
              <a:t> </a:t>
            </a:r>
            <a:r>
              <a:rPr dirty="0" spc="-40"/>
              <a:t>pipelines</a:t>
            </a:r>
            <a:r>
              <a:rPr dirty="0" spc="-30"/>
              <a:t> </a:t>
            </a:r>
            <a:r>
              <a:rPr dirty="0"/>
              <a:t>to</a:t>
            </a:r>
            <a:r>
              <a:rPr dirty="0" spc="-25"/>
              <a:t> </a:t>
            </a:r>
            <a:r>
              <a:rPr dirty="0" spc="-35"/>
              <a:t>much</a:t>
            </a:r>
            <a:r>
              <a:rPr dirty="0" spc="-25"/>
              <a:t> </a:t>
            </a:r>
            <a:r>
              <a:rPr dirty="0" spc="-35"/>
              <a:t>higher</a:t>
            </a:r>
            <a:r>
              <a:rPr dirty="0" spc="-25"/>
              <a:t> </a:t>
            </a:r>
            <a:r>
              <a:rPr dirty="0" spc="-10"/>
              <a:t>risks </a:t>
            </a:r>
            <a:r>
              <a:rPr dirty="0" spc="-50"/>
              <a:t>due</a:t>
            </a:r>
            <a:r>
              <a:rPr dirty="0" spc="-40"/>
              <a:t> </a:t>
            </a:r>
            <a:r>
              <a:rPr dirty="0"/>
              <a:t>to</a:t>
            </a:r>
            <a:r>
              <a:rPr dirty="0" spc="-55"/>
              <a:t> </a:t>
            </a:r>
            <a:r>
              <a:rPr dirty="0" spc="-10"/>
              <a:t>the</a:t>
            </a:r>
            <a:r>
              <a:rPr dirty="0" spc="-40"/>
              <a:t> </a:t>
            </a:r>
            <a:r>
              <a:rPr dirty="0" spc="-55"/>
              <a:t>absence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 spc="-10"/>
              <a:t>the</a:t>
            </a:r>
            <a:r>
              <a:rPr dirty="0" spc="-45"/>
              <a:t> </a:t>
            </a:r>
            <a:r>
              <a:rPr dirty="0" spc="-25"/>
              <a:t>Parametric</a:t>
            </a:r>
            <a:r>
              <a:rPr dirty="0" spc="-40"/>
              <a:t> </a:t>
            </a:r>
            <a:r>
              <a:rPr dirty="0" spc="-10"/>
              <a:t>Shield.</a:t>
            </a:r>
          </a:p>
          <a:p>
            <a:pPr marL="12700" marR="80010">
              <a:lnSpc>
                <a:spcPct val="102600"/>
              </a:lnSpc>
              <a:spcBef>
                <a:spcPts val="1150"/>
              </a:spcBef>
            </a:pPr>
            <a:r>
              <a:rPr dirty="0" spc="-10" b="1">
                <a:latin typeface="Arial"/>
                <a:cs typeface="Arial"/>
              </a:rPr>
              <a:t>Future</a:t>
            </a:r>
            <a:r>
              <a:rPr dirty="0" spc="35" b="1">
                <a:latin typeface="Arial"/>
                <a:cs typeface="Arial"/>
              </a:rPr>
              <a:t> </a:t>
            </a:r>
            <a:r>
              <a:rPr dirty="0" spc="-30" b="1">
                <a:latin typeface="Arial"/>
                <a:cs typeface="Arial"/>
              </a:rPr>
              <a:t>Directions:</a:t>
            </a:r>
            <a:r>
              <a:rPr dirty="0" spc="105" b="1">
                <a:latin typeface="Arial"/>
                <a:cs typeface="Arial"/>
              </a:rPr>
              <a:t> </a:t>
            </a:r>
            <a:r>
              <a:rPr dirty="0"/>
              <a:t>While</a:t>
            </a:r>
            <a:r>
              <a:rPr dirty="0" spc="-30"/>
              <a:t> </a:t>
            </a:r>
            <a:r>
              <a:rPr dirty="0" spc="-35"/>
              <a:t>prompt </a:t>
            </a:r>
            <a:r>
              <a:rPr dirty="0" spc="-50"/>
              <a:t>engineering</a:t>
            </a:r>
            <a:r>
              <a:rPr dirty="0" spc="-35"/>
              <a:t> </a:t>
            </a:r>
            <a:r>
              <a:rPr dirty="0" spc="-40"/>
              <a:t>helps,</a:t>
            </a:r>
            <a:r>
              <a:rPr dirty="0" spc="-30"/>
              <a:t> robust</a:t>
            </a:r>
            <a:r>
              <a:rPr dirty="0" spc="-35"/>
              <a:t> </a:t>
            </a:r>
            <a:r>
              <a:rPr dirty="0"/>
              <a:t>RAG</a:t>
            </a:r>
            <a:r>
              <a:rPr dirty="0" spc="-35"/>
              <a:t> </a:t>
            </a:r>
            <a:r>
              <a:rPr dirty="0" spc="-50"/>
              <a:t>systems</a:t>
            </a:r>
            <a:r>
              <a:rPr dirty="0" spc="-35"/>
              <a:t> </a:t>
            </a:r>
            <a:r>
              <a:rPr dirty="0"/>
              <a:t>will</a:t>
            </a:r>
            <a:r>
              <a:rPr dirty="0" spc="-30"/>
              <a:t> </a:t>
            </a:r>
            <a:r>
              <a:rPr dirty="0" spc="-35"/>
              <a:t>require </a:t>
            </a:r>
            <a:r>
              <a:rPr dirty="0" spc="-25"/>
              <a:t>structural</a:t>
            </a:r>
            <a:r>
              <a:rPr dirty="0" spc="-20"/>
              <a:t> </a:t>
            </a:r>
            <a:r>
              <a:rPr dirty="0" spc="-35"/>
              <a:t>and</a:t>
            </a:r>
            <a:r>
              <a:rPr dirty="0" spc="-20"/>
              <a:t> </a:t>
            </a:r>
            <a:r>
              <a:rPr dirty="0" spc="-30"/>
              <a:t>architectural</a:t>
            </a:r>
            <a:r>
              <a:rPr dirty="0" spc="-20"/>
              <a:t> </a:t>
            </a:r>
            <a:r>
              <a:rPr dirty="0" spc="-65"/>
              <a:t>defenses</a:t>
            </a:r>
            <a:r>
              <a:rPr dirty="0" spc="-20"/>
              <a:t> </a:t>
            </a:r>
            <a:r>
              <a:rPr dirty="0" spc="-40"/>
              <a:t>(e.g.,</a:t>
            </a:r>
            <a:r>
              <a:rPr dirty="0" spc="-20"/>
              <a:t> GraphRAG, Controlled</a:t>
            </a:r>
            <a:r>
              <a:rPr dirty="0" spc="-15"/>
              <a:t> </a:t>
            </a:r>
            <a:r>
              <a:rPr dirty="0" spc="-25"/>
              <a:t>Noise</a:t>
            </a:r>
            <a:r>
              <a:rPr dirty="0" spc="-20"/>
              <a:t> </a:t>
            </a:r>
            <a:r>
              <a:rPr dirty="0" spc="-35"/>
              <a:t>Injection)</a:t>
            </a:r>
            <a:r>
              <a:rPr dirty="0" spc="-20"/>
              <a:t> </a:t>
            </a:r>
            <a:r>
              <a:rPr dirty="0" spc="-25"/>
              <a:t>to withstand</a:t>
            </a:r>
            <a:r>
              <a:rPr dirty="0" spc="-45"/>
              <a:t> </a:t>
            </a:r>
            <a:r>
              <a:rPr dirty="0" spc="-35"/>
              <a:t>semantic</a:t>
            </a:r>
            <a:r>
              <a:rPr dirty="0" spc="-40"/>
              <a:t> </a:t>
            </a:r>
            <a:r>
              <a:rPr dirty="0" spc="-10"/>
              <a:t>attacks.</a:t>
            </a:r>
          </a:p>
          <a:p>
            <a:pPr>
              <a:lnSpc>
                <a:spcPct val="100000"/>
              </a:lnSpc>
            </a:pPr>
          </a:p>
          <a:p>
            <a:pPr>
              <a:lnSpc>
                <a:spcPct val="100000"/>
              </a:lnSpc>
              <a:spcBef>
                <a:spcPts val="130"/>
              </a:spcBef>
            </a:pPr>
          </a:p>
          <a:p>
            <a:pPr algn="ctr" marR="107950">
              <a:lnSpc>
                <a:spcPct val="100000"/>
              </a:lnSpc>
            </a:pPr>
            <a:r>
              <a:rPr dirty="0" sz="1400" b="1">
                <a:latin typeface="Arial"/>
                <a:cs typeface="Arial"/>
              </a:rPr>
              <a:t>Thank</a:t>
            </a:r>
            <a:r>
              <a:rPr dirty="0" sz="1400" spc="175" b="1">
                <a:latin typeface="Arial"/>
                <a:cs typeface="Arial"/>
              </a:rPr>
              <a:t> </a:t>
            </a:r>
            <a:r>
              <a:rPr dirty="0" sz="1400" spc="-20" b="1">
                <a:latin typeface="Arial"/>
                <a:cs typeface="Arial"/>
              </a:rPr>
              <a:t>You!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0" y="3130346"/>
            <a:ext cx="5760085" cy="109855"/>
            <a:chOff x="0" y="3130346"/>
            <a:chExt cx="5760085" cy="109855"/>
          </a:xfrm>
        </p:grpSpPr>
        <p:sp>
          <p:nvSpPr>
            <p:cNvPr id="8" name="object 8"/>
            <p:cNvSpPr/>
            <p:nvPr/>
          </p:nvSpPr>
          <p:spPr>
            <a:xfrm>
              <a:off x="0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919973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3839946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pc="-10"/>
              <a:t>Nguyen</a:t>
            </a:r>
            <a:r>
              <a:rPr dirty="0" spc="55"/>
              <a:t> </a:t>
            </a:r>
            <a:r>
              <a:rPr dirty="0"/>
              <a:t>et</a:t>
            </a:r>
            <a:r>
              <a:rPr dirty="0" spc="60"/>
              <a:t> </a:t>
            </a:r>
            <a:r>
              <a:rPr dirty="0"/>
              <a:t>al.</a:t>
            </a:r>
            <a:r>
              <a:rPr dirty="0" spc="270"/>
              <a:t> </a:t>
            </a:r>
            <a:r>
              <a:rPr dirty="0"/>
              <a:t>(FPT</a:t>
            </a:r>
            <a:r>
              <a:rPr dirty="0" spc="60"/>
              <a:t> </a:t>
            </a:r>
            <a:r>
              <a:rPr dirty="0" spc="-10"/>
              <a:t>University)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2445461" y="3135783"/>
            <a:ext cx="86931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"/>
                <a:cs typeface="Arial"/>
                <a:hlinkClick r:id="rId5" action="ppaction://hlinksldjump"/>
              </a:rPr>
              <a:t>RAG</a:t>
            </a:r>
            <a:r>
              <a:rPr dirty="0" sz="600" spc="-5">
                <a:solidFill>
                  <a:srgbClr val="FFFFFF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"/>
                <a:cs typeface="Arial"/>
                <a:hlinkClick r:id="rId5" action="ppaction://hlinksldjump"/>
              </a:rPr>
              <a:t>Semantic</a:t>
            </a:r>
            <a:r>
              <a:rPr dirty="0" sz="600">
                <a:solidFill>
                  <a:srgbClr val="FFFFFF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"/>
                <a:cs typeface="Arial"/>
                <a:hlinkClick r:id="rId5" action="ppaction://hlinksldjump"/>
              </a:rPr>
              <a:t>Poisoning</a:t>
            </a:r>
            <a:endParaRPr sz="600">
              <a:latin typeface="Arial"/>
              <a:cs typeface="Arial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July</a:t>
            </a:r>
            <a:r>
              <a:rPr dirty="0" spc="20"/>
              <a:t> </a:t>
            </a:r>
            <a:r>
              <a:rPr dirty="0"/>
              <a:t>22,</a:t>
            </a:r>
            <a:r>
              <a:rPr dirty="0" spc="25"/>
              <a:t> </a:t>
            </a:r>
            <a:r>
              <a:rPr dirty="0" spc="-20"/>
              <a:t>2026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dirty="0" spc="-30"/>
              <a:t>1</a:t>
            </a:fld>
            <a:r>
              <a:rPr dirty="0" spc="-60"/>
              <a:t> </a:t>
            </a:r>
            <a:r>
              <a:rPr dirty="0" spc="150"/>
              <a:t>/</a:t>
            </a:r>
            <a:r>
              <a:rPr dirty="0" spc="-60"/>
              <a:t> </a:t>
            </a:r>
            <a:r>
              <a:rPr dirty="0" spc="-50"/>
              <a:t>9</a:t>
            </a:r>
          </a:p>
        </p:txBody>
      </p:sp>
    </p:spTree>
  </p:cSld>
  <p:clrMapOvr>
    <a:masterClrMapping/>
  </p:clrMapOvr>
  <p:transition spd="fast">
    <p:cut thruBlk="0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Nguyen Quoc Huy, Bui Le Tan Dat, Nguyen Dang Khoa, Le Dinh Quy</dc:creator>
  <dc:title>Evaluating RAG Under Adversarial Data at Scale - The Inverse Scaling Law of Semantic Poisoning   and the Dynamics of LLM-as-a-Judge</dc:title>
  <dcterms:created xsi:type="dcterms:W3CDTF">2026-07-22T22:27:13Z</dcterms:created>
  <dcterms:modified xsi:type="dcterms:W3CDTF">2026-07-22T22:27:13Z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StructuredOutput v10.0.20070.1</vt:lpwstr>
  </property>
  <property fmtid="{D5CDD505-2E9C-101B-9397-08002B2CF9AE}" pid="3" name="Created">
    <vt:filetime>2026-07-22T00:00:00Z</vt:filetime>
  </property>
  <property fmtid="{D5CDD505-2E9C-101B-9397-08002B2CF9AE}" pid="4" name="Creator">
    <vt:lpwstr>LaTeX with Beamer class</vt:lpwstr>
  </property>
  <property fmtid="{D5CDD505-2E9C-101B-9397-08002B2CF9AE}" pid="5" name="LastSaved">
    <vt:filetime>2026-07-22T00:00:00Z</vt:filetime>
  </property>
  <property fmtid="{D5CDD505-2E9C-101B-9397-08002B2CF9AE}" pid="6" name="PTEX.Fullbanner">
    <vt:lpwstr>This is pdfTeX, Version 3.141592653-2.6-1.40.27 (TeX Live 2025) kpathsea version 6.4.1</vt:lpwstr>
  </property>
  <property fmtid="{D5CDD505-2E9C-101B-9397-08002B2CF9AE}" pid="7" name="Producer">
    <vt:lpwstr>3-Heights(TM) PDF Security Shell 4.8.25.2 (http://www.pdf-tools.com)</vt:lpwstr>
  </property>
</Properties>
</file>