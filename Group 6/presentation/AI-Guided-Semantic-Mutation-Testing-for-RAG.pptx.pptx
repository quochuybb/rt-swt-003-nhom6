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Montserrat Bold" charset="1" panose="00000800000000000000"/>
      <p:regular r:id="rId19"/>
    </p:embeddedFont>
    <p:embeddedFont>
      <p:font typeface="Source Sans 3" charset="1" panose="020B0303030403020204"/>
      <p:regular r:id="rId20"/>
    </p:embeddedFont>
    <p:embeddedFont>
      <p:font typeface="Source Sans 3 Bold" charset="1" panose="020B0303030403020204"/>
      <p:regular r:id="rId21"/>
    </p:embeddedFont>
    <p:embeddedFont>
      <p:font typeface="Source Sans 3 Italics" charset="1" panose="020B0303030403090204"/>
      <p:regular r:id="rId25"/>
    </p:embeddedFont>
    <p:embeddedFont>
      <p:font typeface="Source Sans 3 Bold Italics" charset="1" panose="020B030303040309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fonts/font25.fntdata" Type="http://schemas.openxmlformats.org/officeDocument/2006/relationships/font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notesSlides/notesSlide7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1.pn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4191" y="231277"/>
            <a:ext cx="6549628" cy="9824437"/>
            <a:chOff x="0" y="0"/>
            <a:chExt cx="8732838" cy="130992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32774" cy="13099287"/>
            </a:xfrm>
            <a:custGeom>
              <a:avLst/>
              <a:gdLst/>
              <a:ahLst/>
              <a:cxnLst/>
              <a:rect r="r" b="b" t="t" l="l"/>
              <a:pathLst>
                <a:path h="13099287" w="8732774">
                  <a:moveTo>
                    <a:pt x="0" y="0"/>
                  </a:moveTo>
                  <a:lnTo>
                    <a:pt x="8732774" y="0"/>
                  </a:lnTo>
                  <a:lnTo>
                    <a:pt x="8732774" y="13099287"/>
                  </a:lnTo>
                  <a:lnTo>
                    <a:pt x="0" y="13099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" t="0" r="-24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9744" y="3314995"/>
            <a:ext cx="9270502" cy="178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AI-Guided Semantic Mutation Testing for RAG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9744" y="7270383"/>
            <a:ext cx="2953645" cy="555127"/>
            <a:chOff x="0" y="0"/>
            <a:chExt cx="3938194" cy="74016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38270" cy="740156"/>
            </a:xfrm>
            <a:custGeom>
              <a:avLst/>
              <a:gdLst/>
              <a:ahLst/>
              <a:cxnLst/>
              <a:rect r="r" b="b" t="t" l="l"/>
              <a:pathLst>
                <a:path h="740156" w="3938270">
                  <a:moveTo>
                    <a:pt x="0" y="49403"/>
                  </a:moveTo>
                  <a:cubicBezTo>
                    <a:pt x="0" y="22098"/>
                    <a:pt x="22098" y="0"/>
                    <a:pt x="49403" y="0"/>
                  </a:cubicBezTo>
                  <a:lnTo>
                    <a:pt x="3888867" y="0"/>
                  </a:lnTo>
                  <a:cubicBezTo>
                    <a:pt x="3916172" y="0"/>
                    <a:pt x="3938270" y="22098"/>
                    <a:pt x="3938270" y="49403"/>
                  </a:cubicBezTo>
                  <a:lnTo>
                    <a:pt x="3938270" y="690753"/>
                  </a:lnTo>
                  <a:cubicBezTo>
                    <a:pt x="3938270" y="718058"/>
                    <a:pt x="3916172" y="740156"/>
                    <a:pt x="3888867" y="740156"/>
                  </a:cubicBezTo>
                  <a:lnTo>
                    <a:pt x="49403" y="740156"/>
                  </a:lnTo>
                  <a:cubicBezTo>
                    <a:pt x="22098" y="740156"/>
                    <a:pt x="0" y="718058"/>
                    <a:pt x="0" y="690753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79744" y="7346016"/>
            <a:ext cx="2953645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19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TOPIC CODE: RT-SWT-001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480612" y="7270383"/>
            <a:ext cx="1173954" cy="555127"/>
            <a:chOff x="0" y="0"/>
            <a:chExt cx="1645844" cy="77826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645793" cy="778256"/>
            </a:xfrm>
            <a:custGeom>
              <a:avLst/>
              <a:gdLst/>
              <a:ahLst/>
              <a:cxnLst/>
              <a:rect r="r" b="b" t="t" l="l"/>
              <a:pathLst>
                <a:path h="778256" w="1645793">
                  <a:moveTo>
                    <a:pt x="0" y="50165"/>
                  </a:moveTo>
                  <a:cubicBezTo>
                    <a:pt x="0" y="22479"/>
                    <a:pt x="22479" y="0"/>
                    <a:pt x="50165" y="0"/>
                  </a:cubicBezTo>
                  <a:lnTo>
                    <a:pt x="1595628" y="0"/>
                  </a:lnTo>
                  <a:cubicBezTo>
                    <a:pt x="1623314" y="0"/>
                    <a:pt x="1645793" y="22479"/>
                    <a:pt x="1645793" y="50165"/>
                  </a:cubicBezTo>
                  <a:lnTo>
                    <a:pt x="1645793" y="728091"/>
                  </a:lnTo>
                  <a:cubicBezTo>
                    <a:pt x="1645793" y="755777"/>
                    <a:pt x="1623314" y="778256"/>
                    <a:pt x="1595628" y="778256"/>
                  </a:cubicBezTo>
                  <a:lnTo>
                    <a:pt x="50165" y="778256"/>
                  </a:lnTo>
                  <a:cubicBezTo>
                    <a:pt x="22479" y="778256"/>
                    <a:pt x="0" y="755777"/>
                    <a:pt x="0" y="728091"/>
                  </a:cubicBez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0671" t="0" r="-10674" b="-1"/>
              </a:stretch>
            </a:blipFill>
            <a:ln w="9526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8" id="18"/>
          <p:cNvSpPr txBox="true"/>
          <p:nvPr/>
        </p:nvSpPr>
        <p:spPr>
          <a:xfrm rot="0">
            <a:off x="4480612" y="7346016"/>
            <a:ext cx="1173954" cy="346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0"/>
              </a:lnSpc>
            </a:pPr>
            <a:r>
              <a:rPr lang="en-US" sz="19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NHÓM 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9744" y="6404524"/>
            <a:ext cx="1018490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Trình bày: </a:t>
            </a: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Nguyễn Quốc Huy (PL)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· Ngày: </a:t>
            </a: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2026-06-14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892673"/>
            <a:ext cx="7597826" cy="844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&amp; GAP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41644" y="2298059"/>
            <a:ext cx="5227444" cy="3833965"/>
          </a:xfrm>
          <a:custGeom>
            <a:avLst/>
            <a:gdLst/>
            <a:ahLst/>
            <a:cxnLst/>
            <a:rect r="r" b="b" t="t" l="l"/>
            <a:pathLst>
              <a:path h="3833965" w="5227444">
                <a:moveTo>
                  <a:pt x="0" y="0"/>
                </a:moveTo>
                <a:lnTo>
                  <a:pt x="5227444" y="0"/>
                </a:lnTo>
                <a:lnTo>
                  <a:pt x="5227444" y="3833965"/>
                </a:lnTo>
                <a:lnTo>
                  <a:pt x="0" y="3833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26086" y="2620566"/>
            <a:ext cx="3341637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Bối cảnh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26086" y="3158576"/>
            <a:ext cx="4410970" cy="1349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7"/>
              </a:lnSpc>
            </a:pP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Hệ thống RAG trong các ứng dụng doanh nghiệp ngày càng phổ biến, đòi hỏi kiểm thử độ bền bỉ khắt khe.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6511233" y="2298059"/>
            <a:ext cx="5227444" cy="3833965"/>
          </a:xfrm>
          <a:custGeom>
            <a:avLst/>
            <a:gdLst/>
            <a:ahLst/>
            <a:cxnLst/>
            <a:rect r="r" b="b" t="t" l="l"/>
            <a:pathLst>
              <a:path h="3833965" w="5227444">
                <a:moveTo>
                  <a:pt x="0" y="0"/>
                </a:moveTo>
                <a:lnTo>
                  <a:pt x="5227444" y="0"/>
                </a:lnTo>
                <a:lnTo>
                  <a:pt x="5227444" y="3833965"/>
                </a:lnTo>
                <a:lnTo>
                  <a:pt x="0" y="3833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995665" y="2620566"/>
            <a:ext cx="3341637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Hạn chế hiện tại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95665" y="3158576"/>
            <a:ext cx="4410970" cy="177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7"/>
              </a:lnSpc>
            </a:pP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Các kỹ thuật đánh giá độ bền bỉ (robustness) hiện tại còn hạn chế, khó định lượng khả năng chống chịu trước dữ liệu sai lệch.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1980812" y="2298059"/>
            <a:ext cx="5227444" cy="3833965"/>
          </a:xfrm>
          <a:custGeom>
            <a:avLst/>
            <a:gdLst/>
            <a:ahLst/>
            <a:cxnLst/>
            <a:rect r="r" b="b" t="t" l="l"/>
            <a:pathLst>
              <a:path h="3833965" w="5227444">
                <a:moveTo>
                  <a:pt x="0" y="0"/>
                </a:moveTo>
                <a:lnTo>
                  <a:pt x="5227444" y="0"/>
                </a:lnTo>
                <a:lnTo>
                  <a:pt x="5227444" y="3833965"/>
                </a:lnTo>
                <a:lnTo>
                  <a:pt x="0" y="383396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42" r="0" b="-42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2465244" y="2620566"/>
            <a:ext cx="3759546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Nghiên cứu liên quan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465244" y="3158576"/>
            <a:ext cx="4410970" cy="264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7"/>
              </a:lnSpc>
            </a:pP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Momtaz (2026) tiên phong dùng Mutation Testing cho RAG nhưng chỉ dừng ở đột biến rule-based. Ngược lại, Wang (2026) chứng minh LLM sinh đột biến ngữ nghĩa tốt hơn hẳn.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1041644" y="6412259"/>
            <a:ext cx="5227444" cy="2972543"/>
          </a:xfrm>
          <a:custGeom>
            <a:avLst/>
            <a:gdLst/>
            <a:ahLst/>
            <a:cxnLst/>
            <a:rect r="r" b="b" t="t" l="l"/>
            <a:pathLst>
              <a:path h="2972543" w="5227444">
                <a:moveTo>
                  <a:pt x="0" y="0"/>
                </a:moveTo>
                <a:lnTo>
                  <a:pt x="5227444" y="0"/>
                </a:lnTo>
                <a:lnTo>
                  <a:pt x="5227444" y="2972543"/>
                </a:lnTo>
                <a:lnTo>
                  <a:pt x="0" y="29725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30" r="0" b="-13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526086" y="6734775"/>
            <a:ext cx="3341637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Gap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526086" y="7272785"/>
            <a:ext cx="4410970" cy="177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7"/>
              </a:lnSpc>
            </a:pP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Chưa có nghiên cứu ứng dụng LLM sinh </a:t>
            </a:r>
            <a:r>
              <a:rPr lang="en-US" sz="23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Đột biến Ngữ nghĩa (Semantic Mutation)</a:t>
            </a: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để đánh lừa RAG.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6511233" y="6412259"/>
            <a:ext cx="5227444" cy="2972543"/>
          </a:xfrm>
          <a:custGeom>
            <a:avLst/>
            <a:gdLst/>
            <a:ahLst/>
            <a:cxnLst/>
            <a:rect r="r" b="b" t="t" l="l"/>
            <a:pathLst>
              <a:path h="2972543" w="5227444">
                <a:moveTo>
                  <a:pt x="0" y="0"/>
                </a:moveTo>
                <a:lnTo>
                  <a:pt x="5227444" y="0"/>
                </a:lnTo>
                <a:lnTo>
                  <a:pt x="5227444" y="2972543"/>
                </a:lnTo>
                <a:lnTo>
                  <a:pt x="0" y="297254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30" r="0" b="-13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995665" y="6734775"/>
            <a:ext cx="3341637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Motivation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95665" y="7272785"/>
            <a:ext cx="4410970" cy="1779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7"/>
              </a:lnSpc>
            </a:pP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Lấp đầy GAP để tránh </a:t>
            </a:r>
            <a:r>
              <a:rPr lang="en-US" sz="23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"ảo tưởng an toàn"</a:t>
            </a: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trước dữ liệu sai lệch tinh vi mà System Prompt không thể nhận diện.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052065"/>
            <a:ext cx="8030918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Evidence Summary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0219" y="2564759"/>
            <a:ext cx="16147552" cy="6650984"/>
            <a:chOff x="0" y="0"/>
            <a:chExt cx="21530069" cy="88679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30056" cy="8867902"/>
            </a:xfrm>
            <a:custGeom>
              <a:avLst/>
              <a:gdLst/>
              <a:ahLst/>
              <a:cxnLst/>
              <a:rect r="r" b="b" t="t" l="l"/>
              <a:pathLst>
                <a:path h="8867902" w="21530056">
                  <a:moveTo>
                    <a:pt x="0" y="61849"/>
                  </a:moveTo>
                  <a:cubicBezTo>
                    <a:pt x="0" y="27686"/>
                    <a:pt x="27686" y="0"/>
                    <a:pt x="61849" y="0"/>
                  </a:cubicBezTo>
                  <a:lnTo>
                    <a:pt x="21468207" y="0"/>
                  </a:lnTo>
                  <a:cubicBezTo>
                    <a:pt x="21502371" y="0"/>
                    <a:pt x="21530056" y="27686"/>
                    <a:pt x="21530056" y="61849"/>
                  </a:cubicBezTo>
                  <a:lnTo>
                    <a:pt x="21530056" y="8806053"/>
                  </a:lnTo>
                  <a:cubicBezTo>
                    <a:pt x="21530056" y="8840216"/>
                    <a:pt x="21502371" y="8867902"/>
                    <a:pt x="21468207" y="8867902"/>
                  </a:cubicBezTo>
                  <a:lnTo>
                    <a:pt x="61849" y="8867902"/>
                  </a:lnTo>
                  <a:cubicBezTo>
                    <a:pt x="27686" y="8867902"/>
                    <a:pt x="0" y="8840216"/>
                    <a:pt x="0" y="8806053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846" t="0" r="-2846" b="0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407614" y="2711644"/>
            <a:ext cx="4793009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Tool / LLM (Paper)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22321" y="2711644"/>
            <a:ext cx="317450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Metric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18512" y="2711644"/>
            <a:ext cx="8976570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Kết quả chính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7614" y="3582438"/>
            <a:ext cx="3878609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GPT-4, Llama-2 (Momtaz 2026)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22321" y="3582438"/>
            <a:ext cx="2260102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Hallucination Rate, Abstain Rate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18512" y="3582438"/>
            <a:ext cx="8976570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Abstain rate đạt </a:t>
            </a: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66%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khi xóa System Prompt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7614" y="5378644"/>
            <a:ext cx="4793009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SMART (Wang 2026)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22321" y="5378644"/>
            <a:ext cx="317450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Mutant Score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18512" y="5378644"/>
            <a:ext cx="8976570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Tăng </a:t>
            </a: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15% Mutant Score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so với rule-based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7614" y="6249438"/>
            <a:ext cx="4793009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SLR (Chu 2026)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22321" y="6249438"/>
            <a:ext cx="317450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N/A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818512" y="6249438"/>
            <a:ext cx="8976570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Xác định </a:t>
            </a: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5 xu hướng GenAI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trong 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7614" y="7120233"/>
            <a:ext cx="4793009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LLM Fuzzer (Moran 2023)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22321" y="7120233"/>
            <a:ext cx="317450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Coverage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818512" y="7120233"/>
            <a:ext cx="8976570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Phát hiện </a:t>
            </a: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23 bug mới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07614" y="7991027"/>
            <a:ext cx="4793009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RAGAS (Chen 2024)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22321" y="7991027"/>
            <a:ext cx="2260102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Faithfulness, Relevance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818512" y="7991027"/>
            <a:ext cx="8976570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85% tương quan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với chuyên gia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229325"/>
            <a:ext cx="13477284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Research Questions &amp; Hypotheses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857545" y="2597201"/>
            <a:ext cx="8132264" cy="6431909"/>
            <a:chOff x="0" y="0"/>
            <a:chExt cx="10843019" cy="857587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843006" cy="8575802"/>
            </a:xfrm>
            <a:custGeom>
              <a:avLst/>
              <a:gdLst/>
              <a:ahLst/>
              <a:cxnLst/>
              <a:rect r="r" b="b" t="t" l="l"/>
              <a:pathLst>
                <a:path h="8575802" w="10843006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781284" y="0"/>
                  </a:lnTo>
                  <a:cubicBezTo>
                    <a:pt x="10815447" y="0"/>
                    <a:pt x="10843006" y="27686"/>
                    <a:pt x="10843006" y="61722"/>
                  </a:cubicBezTo>
                  <a:lnTo>
                    <a:pt x="10843006" y="8514080"/>
                  </a:lnTo>
                  <a:cubicBezTo>
                    <a:pt x="10843006" y="8548243"/>
                    <a:pt x="10815320" y="8575802"/>
                    <a:pt x="10781284" y="8575802"/>
                  </a:cubicBezTo>
                  <a:lnTo>
                    <a:pt x="61722" y="8575802"/>
                  </a:lnTo>
                  <a:cubicBezTo>
                    <a:pt x="27559" y="8575802"/>
                    <a:pt x="0" y="8548116"/>
                    <a:pt x="0" y="8514080"/>
                  </a:cubicBezTo>
                  <a:close/>
                </a:path>
              </a:pathLst>
            </a:custGeom>
            <a:solidFill>
              <a:srgbClr val="1D1F22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166070" y="2896191"/>
            <a:ext cx="4420495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RQ1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66070" y="3576342"/>
            <a:ext cx="7515225" cy="517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[P: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Hệ thống AnythingLLM + FastAPI Docs</a:t>
            </a:r>
            <a:r>
              <a:rPr lang="en-US" sz="24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]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+ </a:t>
            </a:r>
            <a:r>
              <a:rPr lang="en-US" sz="24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[I: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Tiêm Semantic Mutations từ Qwen 3</a:t>
            </a:r>
            <a:r>
              <a:rPr lang="en-US" sz="24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]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có bộc lộ </a:t>
            </a:r>
            <a:r>
              <a:rPr lang="en-US" sz="24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[O: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Tỷ lệ ảo giác gia tăng đáng kể so với Rule-based</a:t>
            </a:r>
            <a:r>
              <a:rPr lang="en-US" sz="24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]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không?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H0: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Tỷ lệ ảo giác (Semantic) ≤ (Rule-based)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H1: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Tỷ lệ ảo giác (Semantic) &gt; (Rule-based)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Metric: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Hallucination Rate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Threshold: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Cohen's d &gt; 0.5 (Case 1)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Test: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Wilcoxon signed-rank </a:t>
            </a:r>
            <a:r>
              <a:rPr lang="en-US" sz="2400" i="true">
                <a:solidFill>
                  <a:srgbClr val="FFFFFF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\alpha = 0.05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29915" y="2896191"/>
            <a:ext cx="4420495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RQ2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9915" y="3576342"/>
            <a:ext cx="7687866" cy="517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[P: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Hệ thống AnythingLLM + System Prompt chuẩn</a:t>
            </a: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]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+ </a:t>
            </a: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[I: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Đối mặt Semantic Mutations từ Qwen 3</a:t>
            </a: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]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có duy trì được </a:t>
            </a: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[O: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Tỷ lệ từ chối ≥ 90%</a:t>
            </a: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]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không?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H0: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[System Prompt] DUY TRÌ Abstain Rate ≥ 90%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H1: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[System Prompt] KHÔNG DUY TRÌ Abstain Rate ≥ 90%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Metric: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Abstain Rate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Threshold: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90% (Case 3)</a:t>
            </a:r>
          </a:p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Test: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Binomial test </a:t>
            </a:r>
            <a:r>
              <a:rPr lang="en-US" sz="2400" i="true">
                <a:solidFill>
                  <a:srgbClr val="E2E6E9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\alpha = 0.05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130351" y="845191"/>
            <a:ext cx="7116813" cy="74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16"/>
              </a:lnSpc>
            </a:pPr>
            <a:r>
              <a:rPr lang="en-US" sz="4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Experiment Pipeline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29712" y="2013194"/>
            <a:ext cx="28575" cy="7409555"/>
            <a:chOff x="0" y="0"/>
            <a:chExt cx="38100" cy="987940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" cy="9879457"/>
            </a:xfrm>
            <a:custGeom>
              <a:avLst/>
              <a:gdLst/>
              <a:ahLst/>
              <a:cxnLst/>
              <a:rect r="r" b="b" t="t" l="l"/>
              <a:pathLst>
                <a:path h="9879457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9860407"/>
                  </a:lnTo>
                  <a:cubicBezTo>
                    <a:pt x="38100" y="9870948"/>
                    <a:pt x="29591" y="9879457"/>
                    <a:pt x="19050" y="9879457"/>
                  </a:cubicBezTo>
                  <a:cubicBezTo>
                    <a:pt x="8509" y="9879457"/>
                    <a:pt x="0" y="9870948"/>
                    <a:pt x="0" y="9860407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118719" y="2286295"/>
            <a:ext cx="766467" cy="28575"/>
            <a:chOff x="0" y="0"/>
            <a:chExt cx="1021956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1969" cy="38100"/>
            </a:xfrm>
            <a:custGeom>
              <a:avLst/>
              <a:gdLst/>
              <a:ahLst/>
              <a:cxnLst/>
              <a:rect r="r" b="b" t="t" l="l"/>
              <a:pathLst>
                <a:path h="38100" w="10219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02919" y="0"/>
                  </a:lnTo>
                  <a:cubicBezTo>
                    <a:pt x="1013460" y="0"/>
                    <a:pt x="1021969" y="8509"/>
                    <a:pt x="1021969" y="19050"/>
                  </a:cubicBezTo>
                  <a:cubicBezTo>
                    <a:pt x="1021969" y="29591"/>
                    <a:pt x="1013460" y="38100"/>
                    <a:pt x="100291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56612" y="2013194"/>
            <a:ext cx="574777" cy="574777"/>
            <a:chOff x="0" y="0"/>
            <a:chExt cx="766369" cy="76636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66318" cy="766318"/>
            </a:xfrm>
            <a:custGeom>
              <a:avLst/>
              <a:gdLst/>
              <a:ahLst/>
              <a:cxnLst/>
              <a:rect r="r" b="b" t="t" l="l"/>
              <a:pathLst>
                <a:path h="766318" w="766318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715264" y="0"/>
                  </a:lnTo>
                  <a:cubicBezTo>
                    <a:pt x="743458" y="0"/>
                    <a:pt x="766318" y="22860"/>
                    <a:pt x="766318" y="51054"/>
                  </a:cubicBezTo>
                  <a:lnTo>
                    <a:pt x="766318" y="715264"/>
                  </a:lnTo>
                  <a:cubicBezTo>
                    <a:pt x="766318" y="743458"/>
                    <a:pt x="743458" y="766318"/>
                    <a:pt x="715264" y="766318"/>
                  </a:cubicBezTo>
                  <a:lnTo>
                    <a:pt x="51054" y="766318"/>
                  </a:lnTo>
                  <a:cubicBezTo>
                    <a:pt x="22860" y="766318"/>
                    <a:pt x="0" y="743458"/>
                    <a:pt x="0" y="715264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969797" y="2082851"/>
            <a:ext cx="348405" cy="435473"/>
            <a:chOff x="0" y="0"/>
            <a:chExt cx="464541" cy="5806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4541" cy="580629"/>
            </a:xfrm>
            <a:custGeom>
              <a:avLst/>
              <a:gdLst/>
              <a:ahLst/>
              <a:cxnLst/>
              <a:rect r="r" b="b" t="t" l="l"/>
              <a:pathLst>
                <a:path h="580629" w="464541">
                  <a:moveTo>
                    <a:pt x="0" y="0"/>
                  </a:moveTo>
                  <a:lnTo>
                    <a:pt x="464541" y="0"/>
                  </a:lnTo>
                  <a:lnTo>
                    <a:pt x="464541" y="580629"/>
                  </a:lnTo>
                  <a:lnTo>
                    <a:pt x="0" y="5806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7" t="0" r="-1103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464541" cy="58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E2E6E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4962973" y="2091480"/>
            <a:ext cx="2903487" cy="37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5"/>
              </a:lnSpc>
            </a:pPr>
            <a:r>
              <a:rPr lang="en-US" sz="22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1: Data Prep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0351" y="2552700"/>
            <a:ext cx="6736109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36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Lấy </a:t>
            </a:r>
            <a:r>
              <a:rPr lang="en-US" sz="20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 = 32</a:t>
            </a: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Contexts/Queries từ FastAPI Docs.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402813" y="3731419"/>
            <a:ext cx="766467" cy="28575"/>
            <a:chOff x="0" y="0"/>
            <a:chExt cx="1021956" cy="381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1969" cy="38100"/>
            </a:xfrm>
            <a:custGeom>
              <a:avLst/>
              <a:gdLst/>
              <a:ahLst/>
              <a:cxnLst/>
              <a:rect r="r" b="b" t="t" l="l"/>
              <a:pathLst>
                <a:path h="38100" w="10219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02919" y="0"/>
                  </a:lnTo>
                  <a:cubicBezTo>
                    <a:pt x="1013460" y="0"/>
                    <a:pt x="1021969" y="8509"/>
                    <a:pt x="1021969" y="19050"/>
                  </a:cubicBezTo>
                  <a:cubicBezTo>
                    <a:pt x="1021969" y="29591"/>
                    <a:pt x="1013460" y="38100"/>
                    <a:pt x="100291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856612" y="3458318"/>
            <a:ext cx="574777" cy="574777"/>
            <a:chOff x="0" y="0"/>
            <a:chExt cx="766369" cy="7663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66318" cy="766318"/>
            </a:xfrm>
            <a:custGeom>
              <a:avLst/>
              <a:gdLst/>
              <a:ahLst/>
              <a:cxnLst/>
              <a:rect r="r" b="b" t="t" l="l"/>
              <a:pathLst>
                <a:path h="766318" w="766318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715264" y="0"/>
                  </a:lnTo>
                  <a:cubicBezTo>
                    <a:pt x="743458" y="0"/>
                    <a:pt x="766318" y="22860"/>
                    <a:pt x="766318" y="51054"/>
                  </a:cubicBezTo>
                  <a:lnTo>
                    <a:pt x="766318" y="715264"/>
                  </a:lnTo>
                  <a:cubicBezTo>
                    <a:pt x="766318" y="743458"/>
                    <a:pt x="743458" y="766318"/>
                    <a:pt x="715264" y="766318"/>
                  </a:cubicBezTo>
                  <a:lnTo>
                    <a:pt x="51054" y="766318"/>
                  </a:lnTo>
                  <a:cubicBezTo>
                    <a:pt x="22860" y="766318"/>
                    <a:pt x="0" y="743458"/>
                    <a:pt x="0" y="715264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969797" y="3527974"/>
            <a:ext cx="348405" cy="435473"/>
            <a:chOff x="0" y="0"/>
            <a:chExt cx="464541" cy="58063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64541" cy="580629"/>
            </a:xfrm>
            <a:custGeom>
              <a:avLst/>
              <a:gdLst/>
              <a:ahLst/>
              <a:cxnLst/>
              <a:rect r="r" b="b" t="t" l="l"/>
              <a:pathLst>
                <a:path h="580629" w="464541">
                  <a:moveTo>
                    <a:pt x="0" y="0"/>
                  </a:moveTo>
                  <a:lnTo>
                    <a:pt x="464541" y="0"/>
                  </a:lnTo>
                  <a:lnTo>
                    <a:pt x="464541" y="580629"/>
                  </a:lnTo>
                  <a:lnTo>
                    <a:pt x="0" y="5806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7" t="0" r="-110366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464541" cy="58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E2E6E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0421541" y="3536604"/>
            <a:ext cx="2903487" cy="37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2: Baseline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421541" y="3997823"/>
            <a:ext cx="6736109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Chạy RAG bằng tài liệu gốc → Thu Baseline Responses.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118719" y="5008807"/>
            <a:ext cx="766467" cy="28575"/>
            <a:chOff x="0" y="0"/>
            <a:chExt cx="1021956" cy="381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21969" cy="38100"/>
            </a:xfrm>
            <a:custGeom>
              <a:avLst/>
              <a:gdLst/>
              <a:ahLst/>
              <a:cxnLst/>
              <a:rect r="r" b="b" t="t" l="l"/>
              <a:pathLst>
                <a:path h="38100" w="10219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02919" y="0"/>
                  </a:lnTo>
                  <a:cubicBezTo>
                    <a:pt x="1013460" y="0"/>
                    <a:pt x="1021969" y="8509"/>
                    <a:pt x="1021969" y="19050"/>
                  </a:cubicBezTo>
                  <a:cubicBezTo>
                    <a:pt x="1021969" y="29591"/>
                    <a:pt x="1013460" y="38100"/>
                    <a:pt x="100291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856612" y="4735706"/>
            <a:ext cx="574777" cy="574777"/>
            <a:chOff x="0" y="0"/>
            <a:chExt cx="766369" cy="76636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6318" cy="766318"/>
            </a:xfrm>
            <a:custGeom>
              <a:avLst/>
              <a:gdLst/>
              <a:ahLst/>
              <a:cxnLst/>
              <a:rect r="r" b="b" t="t" l="l"/>
              <a:pathLst>
                <a:path h="766318" w="766318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715264" y="0"/>
                  </a:lnTo>
                  <a:cubicBezTo>
                    <a:pt x="743458" y="0"/>
                    <a:pt x="766318" y="22860"/>
                    <a:pt x="766318" y="51054"/>
                  </a:cubicBezTo>
                  <a:lnTo>
                    <a:pt x="766318" y="715264"/>
                  </a:lnTo>
                  <a:cubicBezTo>
                    <a:pt x="766318" y="743458"/>
                    <a:pt x="743458" y="766318"/>
                    <a:pt x="715264" y="766318"/>
                  </a:cubicBezTo>
                  <a:lnTo>
                    <a:pt x="51054" y="766318"/>
                  </a:lnTo>
                  <a:cubicBezTo>
                    <a:pt x="22860" y="766318"/>
                    <a:pt x="0" y="743458"/>
                    <a:pt x="0" y="715264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969797" y="4805362"/>
            <a:ext cx="348405" cy="435473"/>
            <a:chOff x="0" y="0"/>
            <a:chExt cx="464541" cy="58063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64541" cy="580629"/>
            </a:xfrm>
            <a:custGeom>
              <a:avLst/>
              <a:gdLst/>
              <a:ahLst/>
              <a:cxnLst/>
              <a:rect r="r" b="b" t="t" l="l"/>
              <a:pathLst>
                <a:path h="580629" w="464541">
                  <a:moveTo>
                    <a:pt x="0" y="0"/>
                  </a:moveTo>
                  <a:lnTo>
                    <a:pt x="464541" y="0"/>
                  </a:lnTo>
                  <a:lnTo>
                    <a:pt x="464541" y="580629"/>
                  </a:lnTo>
                  <a:lnTo>
                    <a:pt x="0" y="5806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7" t="0" r="-11036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64541" cy="58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E2E6E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962973" y="4813992"/>
            <a:ext cx="2903487" cy="37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5"/>
              </a:lnSpc>
            </a:pPr>
            <a:r>
              <a:rPr lang="en-US" sz="22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3: Mutate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30351" y="5275212"/>
            <a:ext cx="6736109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36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Dùng </a:t>
            </a:r>
            <a:r>
              <a:rPr lang="en-US" sz="20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Qwen 3</a:t>
            </a: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sinh </a:t>
            </a:r>
            <a:r>
              <a:rPr lang="en-US" sz="20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416</a:t>
            </a: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Semantic Mutants.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402813" y="6286348"/>
            <a:ext cx="766467" cy="28575"/>
            <a:chOff x="0" y="0"/>
            <a:chExt cx="1021956" cy="381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1969" cy="38100"/>
            </a:xfrm>
            <a:custGeom>
              <a:avLst/>
              <a:gdLst/>
              <a:ahLst/>
              <a:cxnLst/>
              <a:rect r="r" b="b" t="t" l="l"/>
              <a:pathLst>
                <a:path h="38100" w="10219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02919" y="0"/>
                  </a:lnTo>
                  <a:cubicBezTo>
                    <a:pt x="1013460" y="0"/>
                    <a:pt x="1021969" y="8509"/>
                    <a:pt x="1021969" y="19050"/>
                  </a:cubicBezTo>
                  <a:cubicBezTo>
                    <a:pt x="1021969" y="29591"/>
                    <a:pt x="1013460" y="38100"/>
                    <a:pt x="100291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856612" y="6013256"/>
            <a:ext cx="574777" cy="574777"/>
            <a:chOff x="0" y="0"/>
            <a:chExt cx="766369" cy="76636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66318" cy="766318"/>
            </a:xfrm>
            <a:custGeom>
              <a:avLst/>
              <a:gdLst/>
              <a:ahLst/>
              <a:cxnLst/>
              <a:rect r="r" b="b" t="t" l="l"/>
              <a:pathLst>
                <a:path h="766318" w="766318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715264" y="0"/>
                  </a:lnTo>
                  <a:cubicBezTo>
                    <a:pt x="743458" y="0"/>
                    <a:pt x="766318" y="22860"/>
                    <a:pt x="766318" y="51054"/>
                  </a:cubicBezTo>
                  <a:lnTo>
                    <a:pt x="766318" y="715264"/>
                  </a:lnTo>
                  <a:cubicBezTo>
                    <a:pt x="766318" y="743458"/>
                    <a:pt x="743458" y="766318"/>
                    <a:pt x="715264" y="766318"/>
                  </a:cubicBezTo>
                  <a:lnTo>
                    <a:pt x="51054" y="766318"/>
                  </a:lnTo>
                  <a:cubicBezTo>
                    <a:pt x="22860" y="766318"/>
                    <a:pt x="0" y="743458"/>
                    <a:pt x="0" y="715264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969797" y="6082903"/>
            <a:ext cx="348405" cy="435473"/>
            <a:chOff x="0" y="0"/>
            <a:chExt cx="464541" cy="58063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64541" cy="580629"/>
            </a:xfrm>
            <a:custGeom>
              <a:avLst/>
              <a:gdLst/>
              <a:ahLst/>
              <a:cxnLst/>
              <a:rect r="r" b="b" t="t" l="l"/>
              <a:pathLst>
                <a:path h="580629" w="464541">
                  <a:moveTo>
                    <a:pt x="0" y="0"/>
                  </a:moveTo>
                  <a:lnTo>
                    <a:pt x="464541" y="0"/>
                  </a:lnTo>
                  <a:lnTo>
                    <a:pt x="464541" y="580629"/>
                  </a:lnTo>
                  <a:lnTo>
                    <a:pt x="0" y="5806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7" t="0" r="-110366" b="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464541" cy="58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E2E6E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0421541" y="6091533"/>
            <a:ext cx="2903487" cy="37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5"/>
              </a:lnSpc>
            </a:pPr>
            <a:r>
              <a:rPr lang="en-US" sz="22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4: Attack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0421541" y="6552752"/>
            <a:ext cx="6736109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6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Nạp tài liệu độc vào VectorDB → Thu Mutated Responses.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8118719" y="7563888"/>
            <a:ext cx="766467" cy="28575"/>
            <a:chOff x="0" y="0"/>
            <a:chExt cx="1021956" cy="381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1969" cy="38100"/>
            </a:xfrm>
            <a:custGeom>
              <a:avLst/>
              <a:gdLst/>
              <a:ahLst/>
              <a:cxnLst/>
              <a:rect r="r" b="b" t="t" l="l"/>
              <a:pathLst>
                <a:path h="38100" w="1021969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1002919" y="0"/>
                  </a:lnTo>
                  <a:cubicBezTo>
                    <a:pt x="1013460" y="0"/>
                    <a:pt x="1021969" y="8509"/>
                    <a:pt x="1021969" y="19050"/>
                  </a:cubicBezTo>
                  <a:cubicBezTo>
                    <a:pt x="1021969" y="29591"/>
                    <a:pt x="1013460" y="38100"/>
                    <a:pt x="1002919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856612" y="7290787"/>
            <a:ext cx="574777" cy="574777"/>
            <a:chOff x="0" y="0"/>
            <a:chExt cx="766369" cy="76636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6318" cy="766318"/>
            </a:xfrm>
            <a:custGeom>
              <a:avLst/>
              <a:gdLst/>
              <a:ahLst/>
              <a:cxnLst/>
              <a:rect r="r" b="b" t="t" l="l"/>
              <a:pathLst>
                <a:path h="766318" w="766318">
                  <a:moveTo>
                    <a:pt x="0" y="51054"/>
                  </a:moveTo>
                  <a:cubicBezTo>
                    <a:pt x="0" y="22860"/>
                    <a:pt x="22860" y="0"/>
                    <a:pt x="51054" y="0"/>
                  </a:cubicBezTo>
                  <a:lnTo>
                    <a:pt x="715264" y="0"/>
                  </a:lnTo>
                  <a:cubicBezTo>
                    <a:pt x="743458" y="0"/>
                    <a:pt x="766318" y="22860"/>
                    <a:pt x="766318" y="51054"/>
                  </a:cubicBezTo>
                  <a:lnTo>
                    <a:pt x="766318" y="715264"/>
                  </a:lnTo>
                  <a:cubicBezTo>
                    <a:pt x="766318" y="743458"/>
                    <a:pt x="743458" y="766318"/>
                    <a:pt x="715264" y="766318"/>
                  </a:cubicBezTo>
                  <a:lnTo>
                    <a:pt x="51054" y="766318"/>
                  </a:lnTo>
                  <a:cubicBezTo>
                    <a:pt x="22860" y="766318"/>
                    <a:pt x="0" y="743458"/>
                    <a:pt x="0" y="715264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969797" y="7360444"/>
            <a:ext cx="348405" cy="435473"/>
            <a:chOff x="0" y="0"/>
            <a:chExt cx="464541" cy="58063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464541" cy="580629"/>
            </a:xfrm>
            <a:custGeom>
              <a:avLst/>
              <a:gdLst/>
              <a:ahLst/>
              <a:cxnLst/>
              <a:rect r="r" b="b" t="t" l="l"/>
              <a:pathLst>
                <a:path h="580629" w="464541">
                  <a:moveTo>
                    <a:pt x="0" y="0"/>
                  </a:moveTo>
                  <a:lnTo>
                    <a:pt x="464541" y="0"/>
                  </a:lnTo>
                  <a:lnTo>
                    <a:pt x="464541" y="580629"/>
                  </a:lnTo>
                  <a:lnTo>
                    <a:pt x="0" y="58062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67" t="0" r="-110366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464541" cy="5806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E2E6E9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</a:t>
              </a: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4962973" y="7369073"/>
            <a:ext cx="2903487" cy="372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45"/>
              </a:lnSpc>
            </a:pPr>
            <a:r>
              <a:rPr lang="en-US" sz="22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5: Evaluate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130351" y="7830293"/>
            <a:ext cx="6736109" cy="388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36"/>
              </a:lnSpc>
            </a:pPr>
            <a:r>
              <a:rPr lang="en-US" sz="20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DeepSeek V4</a:t>
            </a: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chấm điểm Hallucination / Abstain Rate.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841772"/>
            <a:ext cx="9592418" cy="840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4"/>
              </a:lnSpc>
            </a:pPr>
            <a:r>
              <a:rPr lang="en-US" sz="51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&amp; Baseline Setup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9744" y="3164529"/>
            <a:ext cx="5186210" cy="5186210"/>
            <a:chOff x="0" y="0"/>
            <a:chExt cx="6914947" cy="691494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6914896" cy="6914896"/>
            </a:xfrm>
            <a:custGeom>
              <a:avLst/>
              <a:gdLst/>
              <a:ahLst/>
              <a:cxnLst/>
              <a:rect r="r" b="b" t="t" l="l"/>
              <a:pathLst>
                <a:path h="6914896" w="6914896">
                  <a:moveTo>
                    <a:pt x="0" y="0"/>
                  </a:moveTo>
                  <a:lnTo>
                    <a:pt x="6914896" y="0"/>
                  </a:lnTo>
                  <a:lnTo>
                    <a:pt x="6914896" y="6914896"/>
                  </a:lnTo>
                  <a:lnTo>
                    <a:pt x="0" y="69148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6962184" y="2375144"/>
            <a:ext cx="3269456" cy="3896468"/>
            <a:chOff x="0" y="0"/>
            <a:chExt cx="4359275" cy="51952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59275" cy="5195316"/>
            </a:xfrm>
            <a:custGeom>
              <a:avLst/>
              <a:gdLst/>
              <a:ahLst/>
              <a:cxnLst/>
              <a:rect r="r" b="b" t="t" l="l"/>
              <a:pathLst>
                <a:path h="5195316" w="4359275">
                  <a:moveTo>
                    <a:pt x="0" y="58547"/>
                  </a:moveTo>
                  <a:cubicBezTo>
                    <a:pt x="0" y="26162"/>
                    <a:pt x="26162" y="0"/>
                    <a:pt x="58547" y="0"/>
                  </a:cubicBezTo>
                  <a:lnTo>
                    <a:pt x="4300728" y="0"/>
                  </a:lnTo>
                  <a:cubicBezTo>
                    <a:pt x="4333113" y="0"/>
                    <a:pt x="4359275" y="26162"/>
                    <a:pt x="4359275" y="58547"/>
                  </a:cubicBezTo>
                  <a:lnTo>
                    <a:pt x="4359275" y="5136769"/>
                  </a:lnTo>
                  <a:cubicBezTo>
                    <a:pt x="4359275" y="5169154"/>
                    <a:pt x="4333113" y="5195316"/>
                    <a:pt x="4300728" y="5195316"/>
                  </a:cubicBezTo>
                  <a:lnTo>
                    <a:pt x="58547" y="5195316"/>
                  </a:lnTo>
                  <a:cubicBezTo>
                    <a:pt x="26162" y="5195316"/>
                    <a:pt x="0" y="5169154"/>
                    <a:pt x="0" y="5136769"/>
                  </a:cubicBezTo>
                  <a:close/>
                </a:path>
              </a:pathLst>
            </a:custGeom>
            <a:solidFill>
              <a:srgbClr val="111213"/>
            </a:solidFill>
            <a:ln w="38100" cap="sq">
              <a:solidFill>
                <a:srgbClr val="494A4B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7308504" y="2711948"/>
            <a:ext cx="2576808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</a:t>
            </a: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✅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08504" y="3355924"/>
            <a:ext cx="2576808" cy="256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22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FastAPI Official Documentation | </a:t>
            </a:r>
            <a:r>
              <a:rPr lang="en-US" sz="22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 = 416</a:t>
            </a:r>
            <a:r>
              <a:rPr lang="en-US" sz="22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(32 Contexts/Queries × 13 Mutations) | Accessible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464698" y="2375144"/>
            <a:ext cx="3269456" cy="3896468"/>
            <a:chOff x="0" y="0"/>
            <a:chExt cx="4359275" cy="51952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59275" cy="5195316"/>
            </a:xfrm>
            <a:custGeom>
              <a:avLst/>
              <a:gdLst/>
              <a:ahLst/>
              <a:cxnLst/>
              <a:rect r="r" b="b" t="t" l="l"/>
              <a:pathLst>
                <a:path h="5195316" w="4359275">
                  <a:moveTo>
                    <a:pt x="0" y="58547"/>
                  </a:moveTo>
                  <a:cubicBezTo>
                    <a:pt x="0" y="26162"/>
                    <a:pt x="26162" y="0"/>
                    <a:pt x="58547" y="0"/>
                  </a:cubicBezTo>
                  <a:lnTo>
                    <a:pt x="4300728" y="0"/>
                  </a:lnTo>
                  <a:cubicBezTo>
                    <a:pt x="4333113" y="0"/>
                    <a:pt x="4359275" y="26162"/>
                    <a:pt x="4359275" y="58547"/>
                  </a:cubicBezTo>
                  <a:lnTo>
                    <a:pt x="4359275" y="5136769"/>
                  </a:lnTo>
                  <a:cubicBezTo>
                    <a:pt x="4359275" y="5169154"/>
                    <a:pt x="4333113" y="5195316"/>
                    <a:pt x="4300728" y="5195316"/>
                  </a:cubicBezTo>
                  <a:lnTo>
                    <a:pt x="58547" y="5195316"/>
                  </a:lnTo>
                  <a:cubicBezTo>
                    <a:pt x="26162" y="5195316"/>
                    <a:pt x="0" y="5169154"/>
                    <a:pt x="0" y="5136769"/>
                  </a:cubicBezTo>
                  <a:close/>
                </a:path>
              </a:pathLst>
            </a:custGeom>
            <a:solidFill>
              <a:srgbClr val="111213"/>
            </a:solidFill>
            <a:ln w="38100" cap="sq">
              <a:solidFill>
                <a:srgbClr val="494A4B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0811027" y="2711948"/>
            <a:ext cx="2576808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Models </a:t>
            </a: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✅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811027" y="3355924"/>
            <a:ext cx="2576808" cy="172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22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Qwen 3</a:t>
            </a:r>
            <a:r>
              <a:rPr lang="en-US" sz="22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(Mutator) &amp; </a:t>
            </a:r>
            <a:r>
              <a:rPr lang="en-US" sz="22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DeepSeek V4</a:t>
            </a:r>
            <a:r>
              <a:rPr lang="en-US" sz="22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(Judge) | N = 2 API Keys | Ready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3967222" y="2375144"/>
            <a:ext cx="3269456" cy="3896468"/>
            <a:chOff x="0" y="0"/>
            <a:chExt cx="4359275" cy="51952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59275" cy="5195316"/>
            </a:xfrm>
            <a:custGeom>
              <a:avLst/>
              <a:gdLst/>
              <a:ahLst/>
              <a:cxnLst/>
              <a:rect r="r" b="b" t="t" l="l"/>
              <a:pathLst>
                <a:path h="5195316" w="4359275">
                  <a:moveTo>
                    <a:pt x="0" y="58547"/>
                  </a:moveTo>
                  <a:cubicBezTo>
                    <a:pt x="0" y="26162"/>
                    <a:pt x="26162" y="0"/>
                    <a:pt x="58547" y="0"/>
                  </a:cubicBezTo>
                  <a:lnTo>
                    <a:pt x="4300728" y="0"/>
                  </a:lnTo>
                  <a:cubicBezTo>
                    <a:pt x="4333113" y="0"/>
                    <a:pt x="4359275" y="26162"/>
                    <a:pt x="4359275" y="58547"/>
                  </a:cubicBezTo>
                  <a:lnTo>
                    <a:pt x="4359275" y="5136769"/>
                  </a:lnTo>
                  <a:cubicBezTo>
                    <a:pt x="4359275" y="5169154"/>
                    <a:pt x="4333113" y="5195316"/>
                    <a:pt x="4300728" y="5195316"/>
                  </a:cubicBezTo>
                  <a:lnTo>
                    <a:pt x="58547" y="5195316"/>
                  </a:lnTo>
                  <a:cubicBezTo>
                    <a:pt x="26162" y="5195316"/>
                    <a:pt x="0" y="5169154"/>
                    <a:pt x="0" y="5136769"/>
                  </a:cubicBezTo>
                  <a:close/>
                </a:path>
              </a:pathLst>
            </a:custGeom>
            <a:solidFill>
              <a:srgbClr val="111213"/>
            </a:solidFill>
            <a:ln w="38100" cap="sq">
              <a:solidFill>
                <a:srgbClr val="494A4B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4313541" y="2711948"/>
            <a:ext cx="2576808" cy="831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Baseline System </a:t>
            </a: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✅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313541" y="3766842"/>
            <a:ext cx="2576808" cy="1728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22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AnythingLLM Desktop (tích hợp Llama 4 Scout) | N = 1 Workspace | Installed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962184" y="6504680"/>
            <a:ext cx="5020713" cy="2635596"/>
            <a:chOff x="0" y="0"/>
            <a:chExt cx="6694284" cy="351412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94297" cy="3514090"/>
            </a:xfrm>
            <a:custGeom>
              <a:avLst/>
              <a:gdLst/>
              <a:ahLst/>
              <a:cxnLst/>
              <a:rect r="r" b="b" t="t" l="l"/>
              <a:pathLst>
                <a:path h="3514090" w="6694297">
                  <a:moveTo>
                    <a:pt x="0" y="58674"/>
                  </a:moveTo>
                  <a:cubicBezTo>
                    <a:pt x="0" y="26289"/>
                    <a:pt x="26289" y="0"/>
                    <a:pt x="58674" y="0"/>
                  </a:cubicBezTo>
                  <a:lnTo>
                    <a:pt x="6635623" y="0"/>
                  </a:lnTo>
                  <a:cubicBezTo>
                    <a:pt x="6668008" y="0"/>
                    <a:pt x="6694297" y="26289"/>
                    <a:pt x="6694297" y="58674"/>
                  </a:cubicBezTo>
                  <a:lnTo>
                    <a:pt x="6694297" y="3455416"/>
                  </a:lnTo>
                  <a:cubicBezTo>
                    <a:pt x="6694297" y="3487801"/>
                    <a:pt x="6668008" y="3514090"/>
                    <a:pt x="6635623" y="3514090"/>
                  </a:cubicBezTo>
                  <a:lnTo>
                    <a:pt x="58674" y="3514090"/>
                  </a:lnTo>
                  <a:cubicBezTo>
                    <a:pt x="26289" y="3514090"/>
                    <a:pt x="0" y="3487801"/>
                    <a:pt x="0" y="3455416"/>
                  </a:cubicBezTo>
                  <a:close/>
                </a:path>
              </a:pathLst>
            </a:custGeom>
            <a:solidFill>
              <a:srgbClr val="111213"/>
            </a:solidFill>
            <a:ln w="38100" cap="sq">
              <a:solidFill>
                <a:srgbClr val="494A4B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7308504" y="6841484"/>
            <a:ext cx="3628434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Baseline Mutation </a:t>
            </a:r>
            <a:r>
              <a:rPr lang="en-US" sz="2499" b="true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✅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308504" y="7485459"/>
            <a:ext cx="4328074" cy="1308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22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Rule-based Mutation (Cắt xén ngẫu nhiên - NLTK) từ Momtaz (2026) | Scripted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215965" y="6504680"/>
            <a:ext cx="5020713" cy="2635596"/>
            <a:chOff x="0" y="0"/>
            <a:chExt cx="6694284" cy="351412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694297" cy="3514090"/>
            </a:xfrm>
            <a:custGeom>
              <a:avLst/>
              <a:gdLst/>
              <a:ahLst/>
              <a:cxnLst/>
              <a:rect r="r" b="b" t="t" l="l"/>
              <a:pathLst>
                <a:path h="3514090" w="6694297">
                  <a:moveTo>
                    <a:pt x="0" y="58674"/>
                  </a:moveTo>
                  <a:cubicBezTo>
                    <a:pt x="0" y="26289"/>
                    <a:pt x="26289" y="0"/>
                    <a:pt x="58674" y="0"/>
                  </a:cubicBezTo>
                  <a:lnTo>
                    <a:pt x="6635623" y="0"/>
                  </a:lnTo>
                  <a:cubicBezTo>
                    <a:pt x="6668008" y="0"/>
                    <a:pt x="6694297" y="26289"/>
                    <a:pt x="6694297" y="58674"/>
                  </a:cubicBezTo>
                  <a:lnTo>
                    <a:pt x="6694297" y="3455416"/>
                  </a:lnTo>
                  <a:cubicBezTo>
                    <a:pt x="6694297" y="3487801"/>
                    <a:pt x="6668008" y="3514090"/>
                    <a:pt x="6635623" y="3514090"/>
                  </a:cubicBezTo>
                  <a:lnTo>
                    <a:pt x="58674" y="3514090"/>
                  </a:lnTo>
                  <a:cubicBezTo>
                    <a:pt x="26289" y="3514090"/>
                    <a:pt x="0" y="3487801"/>
                    <a:pt x="0" y="3455416"/>
                  </a:cubicBezTo>
                  <a:close/>
                </a:path>
              </a:pathLst>
            </a:custGeom>
            <a:solidFill>
              <a:srgbClr val="111213"/>
            </a:solidFill>
            <a:ln w="38100" cap="sq">
              <a:solidFill>
                <a:srgbClr val="494A4B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562284" y="6841484"/>
            <a:ext cx="4223737" cy="420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2499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Measurement Validation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62284" y="7485459"/>
            <a:ext cx="4328074" cy="897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94"/>
              </a:lnSpc>
            </a:pPr>
            <a:r>
              <a:rPr lang="en-US" sz="22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Cohen's Kappa (</a:t>
            </a:r>
            <a:r>
              <a:rPr lang="en-US" sz="2200" i="true">
                <a:solidFill>
                  <a:srgbClr val="E2E6E9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k &gt; 0.60</a:t>
            </a:r>
            <a:r>
              <a:rPr lang="en-US" sz="22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) cho đánh giá chéo giữa Human và AI Judge.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273969"/>
            <a:ext cx="7926591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Statistical Plan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0219" y="2786653"/>
            <a:ext cx="16147552" cy="6207328"/>
            <a:chOff x="0" y="0"/>
            <a:chExt cx="21530069" cy="827643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530056" cy="8276336"/>
            </a:xfrm>
            <a:custGeom>
              <a:avLst/>
              <a:gdLst/>
              <a:ahLst/>
              <a:cxnLst/>
              <a:rect r="r" b="b" t="t" l="l"/>
              <a:pathLst>
                <a:path h="8276336" w="21530056">
                  <a:moveTo>
                    <a:pt x="0" y="61849"/>
                  </a:moveTo>
                  <a:cubicBezTo>
                    <a:pt x="0" y="27686"/>
                    <a:pt x="27686" y="0"/>
                    <a:pt x="61849" y="0"/>
                  </a:cubicBezTo>
                  <a:lnTo>
                    <a:pt x="21468207" y="0"/>
                  </a:lnTo>
                  <a:cubicBezTo>
                    <a:pt x="21502371" y="0"/>
                    <a:pt x="21530056" y="27686"/>
                    <a:pt x="21530056" y="61849"/>
                  </a:cubicBezTo>
                  <a:lnTo>
                    <a:pt x="21530056" y="8214487"/>
                  </a:lnTo>
                  <a:cubicBezTo>
                    <a:pt x="21530056" y="8248650"/>
                    <a:pt x="21502371" y="8276336"/>
                    <a:pt x="21468207" y="8276336"/>
                  </a:cubicBezTo>
                  <a:lnTo>
                    <a:pt x="61849" y="8276336"/>
                  </a:lnTo>
                  <a:cubicBezTo>
                    <a:pt x="27686" y="8276336"/>
                    <a:pt x="0" y="8248650"/>
                    <a:pt x="0" y="8214487"/>
                  </a:cubicBez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7" r="0" b="-689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9" id="9"/>
          <p:cNvSpPr txBox="true"/>
          <p:nvPr/>
        </p:nvSpPr>
        <p:spPr>
          <a:xfrm rot="0">
            <a:off x="1407471" y="2933548"/>
            <a:ext cx="480253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Mục tiêu / Tham số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12644" y="2933548"/>
            <a:ext cx="608989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Kỹ thuật Thống kê áp dụng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05187" y="2933548"/>
            <a:ext cx="608989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Điều kiện / Giá trị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07471" y="3804342"/>
            <a:ext cx="480253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Test (RQ1)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912644" y="3804342"/>
            <a:ext cx="608989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Wilcoxon signed-rank (One-tailed)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705187" y="3804342"/>
            <a:ext cx="608989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Paired samples, Non-parametric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07471" y="4675137"/>
            <a:ext cx="480253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Test (RQ2)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912644" y="4675137"/>
            <a:ext cx="608989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Binomial test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05187" y="4675137"/>
            <a:ext cx="5175494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Pass/Fail proportion (Ngưỡng tuyệt đối 90%)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07471" y="6008637"/>
            <a:ext cx="4802534" cy="5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Mức ý nghĩa (</a:t>
            </a:r>
            <a:r>
              <a:rPr lang="en-US" b="true" sz="2400" i="true">
                <a:solidFill>
                  <a:srgbClr val="E2E6E9"/>
                </a:solidFill>
                <a:latin typeface="Source Sans 3 Bold Italics"/>
                <a:ea typeface="Source Sans 3 Bold Italics"/>
                <a:cs typeface="Source Sans 3 Bold Italics"/>
                <a:sym typeface="Source Sans 3 Bold Italics"/>
              </a:rPr>
              <a:t>\alpha</a:t>
            </a: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912644" y="6008637"/>
            <a:ext cx="6089894" cy="5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i="true">
                <a:solidFill>
                  <a:srgbClr val="E2E6E9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0.05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705187" y="6008637"/>
            <a:ext cx="608989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Định dạng chuẩn cho cả 2 RQ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7471" y="6888956"/>
            <a:ext cx="480253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Effect Size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12644" y="6888956"/>
            <a:ext cx="6089894" cy="5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Cohen's </a:t>
            </a:r>
            <a:r>
              <a:rPr lang="en-US" sz="2400" i="true">
                <a:solidFill>
                  <a:srgbClr val="E2E6E9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705187" y="6888956"/>
            <a:ext cx="608989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Áp dụng đo lường khác biệt cho RQ1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407471" y="7769276"/>
            <a:ext cx="480253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Năng lực (Power)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12644" y="7769276"/>
            <a:ext cx="6089894" cy="548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Power </a:t>
            </a:r>
            <a:r>
              <a:rPr lang="en-US" sz="2400" i="true">
                <a:solidFill>
                  <a:srgbClr val="E2E6E9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\ge 0.80</a:t>
            </a: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(với N = 416)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705187" y="7769276"/>
            <a:ext cx="5175494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Đảm bảo độ tin cậy của mẫu phi tham số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79428" y="224133"/>
            <a:ext cx="6559153" cy="9838734"/>
            <a:chOff x="0" y="0"/>
            <a:chExt cx="8745538" cy="13118313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45601" cy="13118337"/>
            </a:xfrm>
            <a:custGeom>
              <a:avLst/>
              <a:gdLst/>
              <a:ahLst/>
              <a:cxnLst/>
              <a:rect r="r" b="b" t="t" l="l"/>
              <a:pathLst>
                <a:path h="13118337" w="8745601">
                  <a:moveTo>
                    <a:pt x="0" y="0"/>
                  </a:moveTo>
                  <a:lnTo>
                    <a:pt x="8745601" y="0"/>
                  </a:lnTo>
                  <a:lnTo>
                    <a:pt x="8745601" y="13118337"/>
                  </a:lnTo>
                  <a:lnTo>
                    <a:pt x="0" y="131183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47" t="0" r="-46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9744" y="964406"/>
            <a:ext cx="7707506" cy="877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14"/>
              </a:lnSpc>
            </a:pPr>
            <a:r>
              <a:rPr lang="en-US" sz="52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Threats to Validity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9744" y="2276323"/>
            <a:ext cx="4490437" cy="4025798"/>
            <a:chOff x="0" y="0"/>
            <a:chExt cx="5987250" cy="53677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987288" cy="5367782"/>
            </a:xfrm>
            <a:custGeom>
              <a:avLst/>
              <a:gdLst/>
              <a:ahLst/>
              <a:cxnLst/>
              <a:rect r="r" b="b" t="t" l="l"/>
              <a:pathLst>
                <a:path h="5367782" w="5987288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5927471" y="0"/>
                  </a:lnTo>
                  <a:cubicBezTo>
                    <a:pt x="5960491" y="0"/>
                    <a:pt x="5987288" y="26797"/>
                    <a:pt x="5987288" y="59817"/>
                  </a:cubicBezTo>
                  <a:lnTo>
                    <a:pt x="5987288" y="5307965"/>
                  </a:lnTo>
                  <a:cubicBezTo>
                    <a:pt x="5987288" y="5340985"/>
                    <a:pt x="5960491" y="5367782"/>
                    <a:pt x="5927471" y="5367782"/>
                  </a:cubicBezTo>
                  <a:lnTo>
                    <a:pt x="59817" y="5367782"/>
                  </a:lnTo>
                  <a:cubicBezTo>
                    <a:pt x="26797" y="5367782"/>
                    <a:pt x="0" y="5340985"/>
                    <a:pt x="0" y="5307965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78591" y="2565644"/>
            <a:ext cx="3396558" cy="43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Internal Threat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78591" y="3116161"/>
            <a:ext cx="3892744" cy="2877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Model version drift &amp; Lỗi cú pháp từ Qwen 3 API</a:t>
            </a:r>
          </a:p>
          <a:p>
            <a:pPr algn="l">
              <a:lnSpc>
                <a:spcPts val="3394"/>
              </a:lnSpc>
            </a:pPr>
            <a:r>
              <a:rPr lang="en-US" sz="23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Mitigation:</a:t>
            </a: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Cố định phiên bản API (qwen-3) &amp; Lọc cú pháp bằng Regex trước khi nạp VectorDB.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859656" y="2276323"/>
            <a:ext cx="4490590" cy="4025798"/>
            <a:chOff x="0" y="0"/>
            <a:chExt cx="5987453" cy="53677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987415" cy="5367782"/>
            </a:xfrm>
            <a:custGeom>
              <a:avLst/>
              <a:gdLst/>
              <a:ahLst/>
              <a:cxnLst/>
              <a:rect r="r" b="b" t="t" l="l"/>
              <a:pathLst>
                <a:path h="5367782" w="5987415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5927598" y="0"/>
                  </a:lnTo>
                  <a:cubicBezTo>
                    <a:pt x="5960618" y="0"/>
                    <a:pt x="5987415" y="26797"/>
                    <a:pt x="5987415" y="59817"/>
                  </a:cubicBezTo>
                  <a:lnTo>
                    <a:pt x="5987415" y="5307965"/>
                  </a:lnTo>
                  <a:cubicBezTo>
                    <a:pt x="5987415" y="5340985"/>
                    <a:pt x="5960618" y="5367782"/>
                    <a:pt x="5927598" y="5367782"/>
                  </a:cubicBezTo>
                  <a:lnTo>
                    <a:pt x="59817" y="5367782"/>
                  </a:lnTo>
                  <a:cubicBezTo>
                    <a:pt x="26797" y="5367782"/>
                    <a:pt x="0" y="5340985"/>
                    <a:pt x="0" y="5307965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158513" y="2565644"/>
            <a:ext cx="3396558" cy="43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Construct Threat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158513" y="3116161"/>
            <a:ext cx="3892896" cy="2887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LLM Judge (DeepSeek V4) dán nhãn sai lệch (Annotation bias)</a:t>
            </a:r>
          </a:p>
          <a:p>
            <a:pPr algn="l">
              <a:lnSpc>
                <a:spcPts val="3394"/>
              </a:lnSpc>
            </a:pPr>
            <a:r>
              <a:rPr lang="en-US" sz="23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Mitigation:</a:t>
            </a: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Đánh giá mù (Blind eval) thủ công N=40 mẫu → Yêu cầu hệ số đồng thuận Cohen's Kappa </a:t>
            </a:r>
            <a:r>
              <a:rPr lang="en-US" sz="2300" i="true">
                <a:solidFill>
                  <a:srgbClr val="E2E6E9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k &gt; 0.60</a:t>
            </a: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79744" y="6591595"/>
            <a:ext cx="9270502" cy="2702423"/>
            <a:chOff x="0" y="0"/>
            <a:chExt cx="12360669" cy="36032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360656" cy="3603244"/>
            </a:xfrm>
            <a:custGeom>
              <a:avLst/>
              <a:gdLst/>
              <a:ahLst/>
              <a:cxnLst/>
              <a:rect r="r" b="b" t="t" l="l"/>
              <a:pathLst>
                <a:path h="3603244" w="12360656">
                  <a:moveTo>
                    <a:pt x="0" y="59817"/>
                  </a:moveTo>
                  <a:cubicBezTo>
                    <a:pt x="0" y="26797"/>
                    <a:pt x="26797" y="0"/>
                    <a:pt x="59817" y="0"/>
                  </a:cubicBezTo>
                  <a:lnTo>
                    <a:pt x="12300839" y="0"/>
                  </a:lnTo>
                  <a:cubicBezTo>
                    <a:pt x="12333859" y="0"/>
                    <a:pt x="12360656" y="26797"/>
                    <a:pt x="12360656" y="59817"/>
                  </a:cubicBezTo>
                  <a:lnTo>
                    <a:pt x="12360656" y="3543427"/>
                  </a:lnTo>
                  <a:cubicBezTo>
                    <a:pt x="12360656" y="3576447"/>
                    <a:pt x="12333859" y="3603244"/>
                    <a:pt x="12300839" y="3603244"/>
                  </a:cubicBezTo>
                  <a:lnTo>
                    <a:pt x="59817" y="3603244"/>
                  </a:lnTo>
                  <a:cubicBezTo>
                    <a:pt x="26797" y="3603244"/>
                    <a:pt x="0" y="3576447"/>
                    <a:pt x="0" y="3543427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378591" y="6880917"/>
            <a:ext cx="3396558" cy="4339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4"/>
              </a:lnSpc>
            </a:pPr>
            <a:r>
              <a:rPr lang="en-US" sz="26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Threat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78591" y="7431434"/>
            <a:ext cx="8672808" cy="156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94"/>
              </a:lnSpc>
            </a:pP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Cỡ mẫu nhỏ gây hụt Năng lực kiểm định thống kê (Statistical Power)</a:t>
            </a:r>
          </a:p>
          <a:p>
            <a:pPr algn="l">
              <a:lnSpc>
                <a:spcPts val="3394"/>
              </a:lnSpc>
            </a:pPr>
            <a:r>
              <a:rPr lang="en-US" sz="23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Mitigation:</a:t>
            </a: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Cấu trúc thực nghiệm ép sinh đủ N=416 mẫu ghép cặp → Đảm bảo Power </a:t>
            </a:r>
            <a:r>
              <a:rPr lang="en-US" sz="2300" i="true">
                <a:solidFill>
                  <a:srgbClr val="E2E6E9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\ge 0.80</a:t>
            </a:r>
            <a:r>
              <a:rPr lang="en-US" sz="23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432770" y="885082"/>
            <a:ext cx="13141081" cy="71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66"/>
              </a:lnSpc>
            </a:pPr>
            <a:r>
              <a:rPr lang="en-US" sz="43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Timeline &amp; Phân công thực thi (Tuần 5–10)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129712" y="1994297"/>
            <a:ext cx="28575" cy="6141091"/>
            <a:chOff x="0" y="0"/>
            <a:chExt cx="38100" cy="81881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8100" cy="8188071"/>
            </a:xfrm>
            <a:custGeom>
              <a:avLst/>
              <a:gdLst/>
              <a:ahLst/>
              <a:cxnLst/>
              <a:rect r="r" b="b" t="t" l="l"/>
              <a:pathLst>
                <a:path h="8188071" w="38100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cubicBezTo>
                    <a:pt x="29591" y="0"/>
                    <a:pt x="38100" y="8509"/>
                    <a:pt x="38100" y="19050"/>
                  </a:cubicBezTo>
                  <a:lnTo>
                    <a:pt x="38100" y="8169021"/>
                  </a:lnTo>
                  <a:cubicBezTo>
                    <a:pt x="38100" y="8179562"/>
                    <a:pt x="29591" y="8188071"/>
                    <a:pt x="19050" y="8188071"/>
                  </a:cubicBezTo>
                  <a:cubicBezTo>
                    <a:pt x="8509" y="8188071"/>
                    <a:pt x="0" y="8179562"/>
                    <a:pt x="0" y="8169021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8434978" y="3073451"/>
            <a:ext cx="737587" cy="28575"/>
            <a:chOff x="0" y="0"/>
            <a:chExt cx="983450" cy="38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83488" cy="38100"/>
            </a:xfrm>
            <a:custGeom>
              <a:avLst/>
              <a:gdLst/>
              <a:ahLst/>
              <a:cxnLst/>
              <a:rect r="r" b="b" t="t" l="l"/>
              <a:pathLst>
                <a:path h="38100" w="98348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64438" y="0"/>
                  </a:lnTo>
                  <a:cubicBezTo>
                    <a:pt x="974979" y="0"/>
                    <a:pt x="983488" y="8509"/>
                    <a:pt x="983488" y="19050"/>
                  </a:cubicBezTo>
                  <a:cubicBezTo>
                    <a:pt x="983488" y="29591"/>
                    <a:pt x="974979" y="38100"/>
                    <a:pt x="96443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51798" y="2995536"/>
            <a:ext cx="184394" cy="184394"/>
            <a:chOff x="0" y="0"/>
            <a:chExt cx="245859" cy="24585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45872" cy="245872"/>
            </a:xfrm>
            <a:custGeom>
              <a:avLst/>
              <a:gdLst/>
              <a:ahLst/>
              <a:cxnLst/>
              <a:rect r="r" b="b" t="t" l="l"/>
              <a:pathLst>
                <a:path h="245872" w="245872">
                  <a:moveTo>
                    <a:pt x="0" y="122936"/>
                  </a:moveTo>
                  <a:cubicBezTo>
                    <a:pt x="0" y="54991"/>
                    <a:pt x="54991" y="0"/>
                    <a:pt x="122936" y="0"/>
                  </a:cubicBezTo>
                  <a:cubicBezTo>
                    <a:pt x="190881" y="0"/>
                    <a:pt x="245872" y="54991"/>
                    <a:pt x="245872" y="122936"/>
                  </a:cubicBezTo>
                  <a:cubicBezTo>
                    <a:pt x="245872" y="190881"/>
                    <a:pt x="190881" y="245872"/>
                    <a:pt x="122936" y="245872"/>
                  </a:cubicBezTo>
                  <a:cubicBezTo>
                    <a:pt x="54991" y="245872"/>
                    <a:pt x="0" y="190881"/>
                    <a:pt x="0" y="1229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32770" y="1994297"/>
            <a:ext cx="6973643" cy="2187026"/>
            <a:chOff x="0" y="0"/>
            <a:chExt cx="9298191" cy="291603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298178" cy="2916047"/>
            </a:xfrm>
            <a:custGeom>
              <a:avLst/>
              <a:gdLst/>
              <a:ahLst/>
              <a:cxnLst/>
              <a:rect r="r" b="b" t="t" l="l"/>
              <a:pathLst>
                <a:path h="2916047" w="9298178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9249029" y="0"/>
                  </a:lnTo>
                  <a:cubicBezTo>
                    <a:pt x="9276207" y="0"/>
                    <a:pt x="9298178" y="21971"/>
                    <a:pt x="9298178" y="49149"/>
                  </a:cubicBezTo>
                  <a:lnTo>
                    <a:pt x="9298178" y="2866898"/>
                  </a:lnTo>
                  <a:cubicBezTo>
                    <a:pt x="9298178" y="2894076"/>
                    <a:pt x="9276207" y="2916047"/>
                    <a:pt x="9249029" y="2916047"/>
                  </a:cubicBezTo>
                  <a:lnTo>
                    <a:pt x="49149" y="2916047"/>
                  </a:lnTo>
                  <a:cubicBezTo>
                    <a:pt x="21971" y="2916047"/>
                    <a:pt x="0" y="2894076"/>
                    <a:pt x="0" y="286689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4995710" y="2230631"/>
            <a:ext cx="3164834" cy="358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0"/>
              </a:lnSpc>
            </a:pPr>
            <a:r>
              <a:rPr lang="en-US" sz="21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Tuần 5–6: Preparation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78629" y="2678163"/>
            <a:ext cx="648191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53"/>
              </a:lnSpc>
            </a:pPr>
            <a:r>
              <a:rPr lang="en-US" sz="19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Hoàn thiện Proposal, Lọc dữ liệu FastAPI, Thiết lập API</a:t>
            </a:r>
          </a:p>
          <a:p>
            <a:pPr algn="r">
              <a:lnSpc>
                <a:spcPts val="2553"/>
              </a:lnSpc>
            </a:pPr>
            <a:r>
              <a:rPr lang="en-US" sz="19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Checkpoint:</a:t>
            </a:r>
            <a:r>
              <a:rPr lang="en-US" sz="19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proposal.md v1.0, Thư mục data/raw/</a:t>
            </a:r>
          </a:p>
          <a:p>
            <a:pPr algn="r">
              <a:lnSpc>
                <a:spcPts val="2553"/>
              </a:lnSpc>
            </a:pPr>
            <a:r>
              <a:rPr lang="en-US" sz="19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Role:</a:t>
            </a:r>
            <a:r>
              <a:rPr lang="en-US" sz="19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PL, DG, LR, RW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9115425" y="4448623"/>
            <a:ext cx="737587" cy="28575"/>
            <a:chOff x="0" y="0"/>
            <a:chExt cx="983450" cy="381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83488" cy="38100"/>
            </a:xfrm>
            <a:custGeom>
              <a:avLst/>
              <a:gdLst/>
              <a:ahLst/>
              <a:cxnLst/>
              <a:rect r="r" b="b" t="t" l="l"/>
              <a:pathLst>
                <a:path h="38100" w="98348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64438" y="0"/>
                  </a:lnTo>
                  <a:cubicBezTo>
                    <a:pt x="974979" y="0"/>
                    <a:pt x="983488" y="8509"/>
                    <a:pt x="983488" y="19050"/>
                  </a:cubicBezTo>
                  <a:cubicBezTo>
                    <a:pt x="983488" y="29591"/>
                    <a:pt x="974979" y="38100"/>
                    <a:pt x="96443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9051798" y="4370708"/>
            <a:ext cx="184394" cy="184394"/>
            <a:chOff x="0" y="0"/>
            <a:chExt cx="245859" cy="24585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5872" cy="245872"/>
            </a:xfrm>
            <a:custGeom>
              <a:avLst/>
              <a:gdLst/>
              <a:ahLst/>
              <a:cxnLst/>
              <a:rect r="r" b="b" t="t" l="l"/>
              <a:pathLst>
                <a:path h="245872" w="245872">
                  <a:moveTo>
                    <a:pt x="0" y="122936"/>
                  </a:moveTo>
                  <a:cubicBezTo>
                    <a:pt x="0" y="54991"/>
                    <a:pt x="54991" y="0"/>
                    <a:pt x="122936" y="0"/>
                  </a:cubicBezTo>
                  <a:cubicBezTo>
                    <a:pt x="190881" y="0"/>
                    <a:pt x="245872" y="54991"/>
                    <a:pt x="245872" y="122936"/>
                  </a:cubicBezTo>
                  <a:cubicBezTo>
                    <a:pt x="245872" y="190881"/>
                    <a:pt x="190881" y="245872"/>
                    <a:pt x="122936" y="245872"/>
                  </a:cubicBezTo>
                  <a:cubicBezTo>
                    <a:pt x="54991" y="245872"/>
                    <a:pt x="0" y="190881"/>
                    <a:pt x="0" y="1229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881587" y="3369469"/>
            <a:ext cx="6973643" cy="2187026"/>
            <a:chOff x="0" y="0"/>
            <a:chExt cx="9298191" cy="291603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298178" cy="2916047"/>
            </a:xfrm>
            <a:custGeom>
              <a:avLst/>
              <a:gdLst/>
              <a:ahLst/>
              <a:cxnLst/>
              <a:rect r="r" b="b" t="t" l="l"/>
              <a:pathLst>
                <a:path h="2916047" w="9298178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9249029" y="0"/>
                  </a:lnTo>
                  <a:cubicBezTo>
                    <a:pt x="9276207" y="0"/>
                    <a:pt x="9298178" y="21971"/>
                    <a:pt x="9298178" y="49149"/>
                  </a:cubicBezTo>
                  <a:lnTo>
                    <a:pt x="9298178" y="2866898"/>
                  </a:lnTo>
                  <a:cubicBezTo>
                    <a:pt x="9298178" y="2894076"/>
                    <a:pt x="9276207" y="2916047"/>
                    <a:pt x="9249029" y="2916047"/>
                  </a:cubicBezTo>
                  <a:lnTo>
                    <a:pt x="49149" y="2916047"/>
                  </a:lnTo>
                  <a:cubicBezTo>
                    <a:pt x="21971" y="2916047"/>
                    <a:pt x="0" y="2894076"/>
                    <a:pt x="0" y="286689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127456" y="3605803"/>
            <a:ext cx="2793949" cy="358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Tuần 7: Pilot Test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127456" y="4053335"/>
            <a:ext cx="648191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Lập Ground truth (Mù đôi), Chạy thử nghiệm, Đánh giá</a:t>
            </a:r>
          </a:p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Checkpoint:</a:t>
            </a:r>
            <a:r>
              <a:rPr lang="en-US" sz="19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pilot_analysis.ipynb, Tài liệu Amendment</a:t>
            </a:r>
          </a:p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Role:</a:t>
            </a:r>
            <a:r>
              <a:rPr lang="en-US" sz="19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DG, LR, MS, PL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434978" y="5737917"/>
            <a:ext cx="737587" cy="28575"/>
            <a:chOff x="0" y="0"/>
            <a:chExt cx="983450" cy="381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83488" cy="38100"/>
            </a:xfrm>
            <a:custGeom>
              <a:avLst/>
              <a:gdLst/>
              <a:ahLst/>
              <a:cxnLst/>
              <a:rect r="r" b="b" t="t" l="l"/>
              <a:pathLst>
                <a:path h="38100" w="98348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64438" y="0"/>
                  </a:lnTo>
                  <a:cubicBezTo>
                    <a:pt x="974979" y="0"/>
                    <a:pt x="983488" y="8509"/>
                    <a:pt x="983488" y="19050"/>
                  </a:cubicBezTo>
                  <a:cubicBezTo>
                    <a:pt x="983488" y="29591"/>
                    <a:pt x="974979" y="38100"/>
                    <a:pt x="96443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051798" y="5660012"/>
            <a:ext cx="184394" cy="184394"/>
            <a:chOff x="0" y="0"/>
            <a:chExt cx="245859" cy="24585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5872" cy="245872"/>
            </a:xfrm>
            <a:custGeom>
              <a:avLst/>
              <a:gdLst/>
              <a:ahLst/>
              <a:cxnLst/>
              <a:rect r="r" b="b" t="t" l="l"/>
              <a:pathLst>
                <a:path h="245872" w="245872">
                  <a:moveTo>
                    <a:pt x="0" y="122936"/>
                  </a:moveTo>
                  <a:cubicBezTo>
                    <a:pt x="0" y="54991"/>
                    <a:pt x="54991" y="0"/>
                    <a:pt x="122936" y="0"/>
                  </a:cubicBezTo>
                  <a:cubicBezTo>
                    <a:pt x="190881" y="0"/>
                    <a:pt x="245872" y="54991"/>
                    <a:pt x="245872" y="122936"/>
                  </a:cubicBezTo>
                  <a:cubicBezTo>
                    <a:pt x="245872" y="190881"/>
                    <a:pt x="190881" y="245872"/>
                    <a:pt x="122936" y="245872"/>
                  </a:cubicBezTo>
                  <a:cubicBezTo>
                    <a:pt x="54991" y="245872"/>
                    <a:pt x="0" y="190881"/>
                    <a:pt x="0" y="1229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432770" y="4658763"/>
            <a:ext cx="6973643" cy="2187026"/>
            <a:chOff x="0" y="0"/>
            <a:chExt cx="9298191" cy="291603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298178" cy="2916047"/>
            </a:xfrm>
            <a:custGeom>
              <a:avLst/>
              <a:gdLst/>
              <a:ahLst/>
              <a:cxnLst/>
              <a:rect r="r" b="b" t="t" l="l"/>
              <a:pathLst>
                <a:path h="2916047" w="9298178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9249029" y="0"/>
                  </a:lnTo>
                  <a:cubicBezTo>
                    <a:pt x="9276207" y="0"/>
                    <a:pt x="9298178" y="21971"/>
                    <a:pt x="9298178" y="49149"/>
                  </a:cubicBezTo>
                  <a:lnTo>
                    <a:pt x="9298178" y="2866898"/>
                  </a:lnTo>
                  <a:cubicBezTo>
                    <a:pt x="9298178" y="2894076"/>
                    <a:pt x="9276207" y="2916047"/>
                    <a:pt x="9249029" y="2916047"/>
                  </a:cubicBezTo>
                  <a:lnTo>
                    <a:pt x="49149" y="2916047"/>
                  </a:lnTo>
                  <a:cubicBezTo>
                    <a:pt x="21971" y="2916047"/>
                    <a:pt x="0" y="2894076"/>
                    <a:pt x="0" y="286689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5366595" y="4895107"/>
            <a:ext cx="2793949" cy="358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20"/>
              </a:lnSpc>
            </a:pPr>
            <a:r>
              <a:rPr lang="en-US" sz="21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Tuần 8: Full Batch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678629" y="5342630"/>
            <a:ext cx="648191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53"/>
              </a:lnSpc>
            </a:pPr>
            <a:r>
              <a:rPr lang="en-US" sz="19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Vận hành 416 mẫu đột biến, Phân tích kiểm định thống kê</a:t>
            </a:r>
          </a:p>
          <a:p>
            <a:pPr algn="r">
              <a:lnSpc>
                <a:spcPts val="2553"/>
              </a:lnSpc>
            </a:pPr>
            <a:r>
              <a:rPr lang="en-US" sz="19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Checkpoint:</a:t>
            </a:r>
            <a:r>
              <a:rPr lang="en-US" sz="19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full_analysis.ipynb (p-value), Biểu đồ khoa học</a:t>
            </a:r>
          </a:p>
          <a:p>
            <a:pPr algn="r">
              <a:lnSpc>
                <a:spcPts val="2553"/>
              </a:lnSpc>
            </a:pPr>
            <a:r>
              <a:rPr lang="en-US" sz="19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Role:</a:t>
            </a:r>
            <a:r>
              <a:rPr lang="en-US" sz="19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DG, LR, MS, RW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115425" y="7027364"/>
            <a:ext cx="737587" cy="28575"/>
            <a:chOff x="0" y="0"/>
            <a:chExt cx="983450" cy="381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83488" cy="38100"/>
            </a:xfrm>
            <a:custGeom>
              <a:avLst/>
              <a:gdLst/>
              <a:ahLst/>
              <a:cxnLst/>
              <a:rect r="r" b="b" t="t" l="l"/>
              <a:pathLst>
                <a:path h="38100" w="983488">
                  <a:moveTo>
                    <a:pt x="0" y="19050"/>
                  </a:moveTo>
                  <a:cubicBezTo>
                    <a:pt x="0" y="8509"/>
                    <a:pt x="8509" y="0"/>
                    <a:pt x="19050" y="0"/>
                  </a:cubicBezTo>
                  <a:lnTo>
                    <a:pt x="964438" y="0"/>
                  </a:lnTo>
                  <a:cubicBezTo>
                    <a:pt x="974979" y="0"/>
                    <a:pt x="983488" y="8509"/>
                    <a:pt x="983488" y="19050"/>
                  </a:cubicBezTo>
                  <a:cubicBezTo>
                    <a:pt x="983488" y="29591"/>
                    <a:pt x="974979" y="38100"/>
                    <a:pt x="964438" y="38100"/>
                  </a:cubicBezTo>
                  <a:lnTo>
                    <a:pt x="19050" y="38100"/>
                  </a:lnTo>
                  <a:cubicBezTo>
                    <a:pt x="8509" y="38100"/>
                    <a:pt x="0" y="29591"/>
                    <a:pt x="0" y="1905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051798" y="6949450"/>
            <a:ext cx="184394" cy="184394"/>
            <a:chOff x="0" y="0"/>
            <a:chExt cx="245859" cy="24585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5872" cy="245872"/>
            </a:xfrm>
            <a:custGeom>
              <a:avLst/>
              <a:gdLst/>
              <a:ahLst/>
              <a:cxnLst/>
              <a:rect r="r" b="b" t="t" l="l"/>
              <a:pathLst>
                <a:path h="245872" w="245872">
                  <a:moveTo>
                    <a:pt x="0" y="122936"/>
                  </a:moveTo>
                  <a:cubicBezTo>
                    <a:pt x="0" y="54991"/>
                    <a:pt x="54991" y="0"/>
                    <a:pt x="122936" y="0"/>
                  </a:cubicBezTo>
                  <a:cubicBezTo>
                    <a:pt x="190881" y="0"/>
                    <a:pt x="245872" y="54991"/>
                    <a:pt x="245872" y="122936"/>
                  </a:cubicBezTo>
                  <a:cubicBezTo>
                    <a:pt x="245872" y="190881"/>
                    <a:pt x="190881" y="245872"/>
                    <a:pt x="122936" y="245872"/>
                  </a:cubicBezTo>
                  <a:cubicBezTo>
                    <a:pt x="54991" y="245872"/>
                    <a:pt x="0" y="190881"/>
                    <a:pt x="0" y="12293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9881587" y="5948210"/>
            <a:ext cx="6973643" cy="2187026"/>
            <a:chOff x="0" y="0"/>
            <a:chExt cx="9298191" cy="291603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98178" cy="2916047"/>
            </a:xfrm>
            <a:custGeom>
              <a:avLst/>
              <a:gdLst/>
              <a:ahLst/>
              <a:cxnLst/>
              <a:rect r="r" b="b" t="t" l="l"/>
              <a:pathLst>
                <a:path h="2916047" w="9298178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9249029" y="0"/>
                  </a:lnTo>
                  <a:cubicBezTo>
                    <a:pt x="9276207" y="0"/>
                    <a:pt x="9298178" y="21971"/>
                    <a:pt x="9298178" y="49149"/>
                  </a:cubicBezTo>
                  <a:lnTo>
                    <a:pt x="9298178" y="2866898"/>
                  </a:lnTo>
                  <a:cubicBezTo>
                    <a:pt x="9298178" y="2894076"/>
                    <a:pt x="9276207" y="2916047"/>
                    <a:pt x="9249029" y="2916047"/>
                  </a:cubicBezTo>
                  <a:lnTo>
                    <a:pt x="49149" y="2916047"/>
                  </a:lnTo>
                  <a:cubicBezTo>
                    <a:pt x="21971" y="2916047"/>
                    <a:pt x="0" y="2894076"/>
                    <a:pt x="0" y="286689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10127456" y="6184554"/>
            <a:ext cx="2854966" cy="358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0"/>
              </a:lnSpc>
            </a:pPr>
            <a:r>
              <a:rPr lang="en-US" sz="21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Tuần 9–10: Wrap-up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127456" y="6632077"/>
            <a:ext cx="6481915" cy="1257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Biên soạn báo cáo tổng kết &amp; Xây dựng Slide bảo vệ</a:t>
            </a:r>
          </a:p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Checkpoint:</a:t>
            </a:r>
            <a:r>
              <a:rPr lang="en-US" sz="19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Báo cáo cuối kỳ, Slide Gamma</a:t>
            </a:r>
          </a:p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Role:</a:t>
            </a:r>
            <a:r>
              <a:rPr lang="en-US" sz="19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Tất cả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432770" y="8355806"/>
            <a:ext cx="15422461" cy="806644"/>
            <a:chOff x="0" y="0"/>
            <a:chExt cx="20563281" cy="107552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0563205" cy="1075563"/>
            </a:xfrm>
            <a:custGeom>
              <a:avLst/>
              <a:gdLst/>
              <a:ahLst/>
              <a:cxnLst/>
              <a:rect r="r" b="b" t="t" l="l"/>
              <a:pathLst>
                <a:path h="1075563" w="20563205">
                  <a:moveTo>
                    <a:pt x="0" y="49149"/>
                  </a:moveTo>
                  <a:cubicBezTo>
                    <a:pt x="0" y="21971"/>
                    <a:pt x="21971" y="0"/>
                    <a:pt x="49149" y="0"/>
                  </a:cubicBezTo>
                  <a:lnTo>
                    <a:pt x="20514056" y="0"/>
                  </a:lnTo>
                  <a:cubicBezTo>
                    <a:pt x="20541235" y="0"/>
                    <a:pt x="20563205" y="21971"/>
                    <a:pt x="20563205" y="49149"/>
                  </a:cubicBezTo>
                  <a:lnTo>
                    <a:pt x="20563205" y="1026414"/>
                  </a:lnTo>
                  <a:cubicBezTo>
                    <a:pt x="20563205" y="1053592"/>
                    <a:pt x="20541235" y="1075563"/>
                    <a:pt x="20514056" y="1075563"/>
                  </a:cubicBezTo>
                  <a:lnTo>
                    <a:pt x="49149" y="1075563"/>
                  </a:lnTo>
                  <a:cubicBezTo>
                    <a:pt x="21971" y="1075563"/>
                    <a:pt x="0" y="1053465"/>
                    <a:pt x="0" y="1026414"/>
                  </a:cubicBezTo>
                  <a:close/>
                </a:path>
              </a:pathLst>
            </a:custGeom>
            <a:solidFill>
              <a:srgbClr val="262626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678629" y="8676532"/>
            <a:ext cx="307334" cy="245859"/>
            <a:chOff x="0" y="0"/>
            <a:chExt cx="409778" cy="327812"/>
          </a:xfrm>
        </p:grpSpPr>
        <p:sp>
          <p:nvSpPr>
            <p:cNvPr name="Freeform 44" id="44" descr="preencoded.png"/>
            <p:cNvSpPr/>
            <p:nvPr/>
          </p:nvSpPr>
          <p:spPr>
            <a:xfrm flipH="false" flipV="false" rot="0">
              <a:off x="0" y="0"/>
              <a:ext cx="409829" cy="327787"/>
            </a:xfrm>
            <a:custGeom>
              <a:avLst/>
              <a:gdLst/>
              <a:ahLst/>
              <a:cxnLst/>
              <a:rect r="r" b="b" t="t" l="l"/>
              <a:pathLst>
                <a:path h="327787" w="409829">
                  <a:moveTo>
                    <a:pt x="0" y="0"/>
                  </a:moveTo>
                  <a:lnTo>
                    <a:pt x="409829" y="0"/>
                  </a:lnTo>
                  <a:lnTo>
                    <a:pt x="409829" y="327787"/>
                  </a:lnTo>
                  <a:lnTo>
                    <a:pt x="0" y="327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68" t="0" r="-756" b="-7"/>
              </a:stretch>
            </a:blip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2231822" y="8564909"/>
            <a:ext cx="15291940" cy="359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3"/>
              </a:lnSpc>
            </a:pPr>
            <a:r>
              <a:rPr lang="en-US" sz="19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Ghi chú:</a:t>
            </a:r>
            <a:r>
              <a:rPr lang="en-US" sz="19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19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PL</a:t>
            </a:r>
            <a:r>
              <a:rPr lang="en-US" sz="19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(Điều phối/Nộp bài), </a:t>
            </a:r>
            <a:r>
              <a:rPr lang="en-US" sz="19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DG</a:t>
            </a:r>
            <a:r>
              <a:rPr lang="en-US" sz="19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(Data/Ground truth), </a:t>
            </a:r>
            <a:r>
              <a:rPr lang="en-US" sz="19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LR</a:t>
            </a:r>
            <a:r>
              <a:rPr lang="en-US" sz="19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(Vận hành LLM API), </a:t>
            </a:r>
            <a:r>
              <a:rPr lang="en-US" sz="19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MS</a:t>
            </a:r>
            <a:r>
              <a:rPr lang="en-US" sz="19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(Metric &amp; Thống kê), </a:t>
            </a:r>
            <a:r>
              <a:rPr lang="en-US" sz="1900" b="true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RW</a:t>
            </a:r>
            <a:r>
              <a:rPr lang="en-US" sz="190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 (Viết báo cáo/Biểu đồ).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58359" y="9688982"/>
            <a:ext cx="2143687" cy="512064"/>
            <a:chOff x="0" y="0"/>
            <a:chExt cx="2858249" cy="682752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58262" cy="682752"/>
            </a:xfrm>
            <a:custGeom>
              <a:avLst/>
              <a:gdLst/>
              <a:ahLst/>
              <a:cxnLst/>
              <a:rect r="r" b="b" t="t" l="l"/>
              <a:pathLst>
                <a:path h="682752" w="2858262">
                  <a:moveTo>
                    <a:pt x="0" y="0"/>
                  </a:moveTo>
                  <a:lnTo>
                    <a:pt x="2858262" y="0"/>
                  </a:lnTo>
                  <a:lnTo>
                    <a:pt x="2858262" y="682752"/>
                  </a:lnTo>
                  <a:lnTo>
                    <a:pt x="0" y="682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4191" y="231277"/>
            <a:ext cx="6549628" cy="9824437"/>
            <a:chOff x="0" y="0"/>
            <a:chExt cx="8732838" cy="130992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32774" cy="13099287"/>
            </a:xfrm>
            <a:custGeom>
              <a:avLst/>
              <a:gdLst/>
              <a:ahLst/>
              <a:cxnLst/>
              <a:rect r="r" b="b" t="t" l="l"/>
              <a:pathLst>
                <a:path h="13099287" w="8732774">
                  <a:moveTo>
                    <a:pt x="0" y="0"/>
                  </a:moveTo>
                  <a:lnTo>
                    <a:pt x="8732774" y="0"/>
                  </a:lnTo>
                  <a:lnTo>
                    <a:pt x="8732774" y="13099287"/>
                  </a:lnTo>
                  <a:lnTo>
                    <a:pt x="0" y="130992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3" t="0" r="-24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9744" y="891188"/>
            <a:ext cx="9241041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64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Expected Contribution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9744" y="2259063"/>
            <a:ext cx="9270502" cy="3399834"/>
            <a:chOff x="0" y="0"/>
            <a:chExt cx="12360669" cy="453311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360656" cy="4533138"/>
            </a:xfrm>
            <a:custGeom>
              <a:avLst/>
              <a:gdLst/>
              <a:ahLst/>
              <a:cxnLst/>
              <a:rect r="r" b="b" t="t" l="l"/>
              <a:pathLst>
                <a:path h="4533138" w="12360656">
                  <a:moveTo>
                    <a:pt x="0" y="61722"/>
                  </a:moveTo>
                  <a:cubicBezTo>
                    <a:pt x="0" y="27559"/>
                    <a:pt x="27559" y="0"/>
                    <a:pt x="61722" y="0"/>
                  </a:cubicBezTo>
                  <a:lnTo>
                    <a:pt x="12298934" y="0"/>
                  </a:lnTo>
                  <a:cubicBezTo>
                    <a:pt x="12332970" y="0"/>
                    <a:pt x="12360656" y="27559"/>
                    <a:pt x="12360656" y="61722"/>
                  </a:cubicBezTo>
                  <a:lnTo>
                    <a:pt x="12360656" y="4471416"/>
                  </a:lnTo>
                  <a:cubicBezTo>
                    <a:pt x="12360656" y="4505452"/>
                    <a:pt x="12333097" y="4533138"/>
                    <a:pt x="12298934" y="4533138"/>
                  </a:cubicBezTo>
                  <a:lnTo>
                    <a:pt x="61722" y="4533138"/>
                  </a:lnTo>
                  <a:cubicBezTo>
                    <a:pt x="27686" y="4533138"/>
                    <a:pt x="0" y="4505579"/>
                    <a:pt x="0" y="4471416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88269" y="2567578"/>
            <a:ext cx="925563" cy="925563"/>
            <a:chOff x="0" y="0"/>
            <a:chExt cx="1234084" cy="123408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34059" cy="1234059"/>
            </a:xfrm>
            <a:custGeom>
              <a:avLst/>
              <a:gdLst/>
              <a:ahLst/>
              <a:cxnLst/>
              <a:rect r="r" b="b" t="t" l="l"/>
              <a:pathLst>
                <a:path h="1234059" w="1234059">
                  <a:moveTo>
                    <a:pt x="0" y="617093"/>
                  </a:moveTo>
                  <a:cubicBezTo>
                    <a:pt x="0" y="276225"/>
                    <a:pt x="276225" y="0"/>
                    <a:pt x="617093" y="0"/>
                  </a:cubicBezTo>
                  <a:cubicBezTo>
                    <a:pt x="957961" y="0"/>
                    <a:pt x="1234059" y="276225"/>
                    <a:pt x="1234059" y="617093"/>
                  </a:cubicBezTo>
                  <a:cubicBezTo>
                    <a:pt x="1234059" y="957961"/>
                    <a:pt x="957834" y="1234059"/>
                    <a:pt x="617093" y="1234059"/>
                  </a:cubicBezTo>
                  <a:cubicBezTo>
                    <a:pt x="276352" y="1234059"/>
                    <a:pt x="0" y="957834"/>
                    <a:pt x="0" y="61709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7" id="17" descr="preencoded.png"/>
          <p:cNvSpPr/>
          <p:nvPr/>
        </p:nvSpPr>
        <p:spPr>
          <a:xfrm flipH="false" flipV="false" rot="0">
            <a:off x="1642767" y="2822077"/>
            <a:ext cx="416423" cy="416423"/>
          </a:xfrm>
          <a:custGeom>
            <a:avLst/>
            <a:gdLst/>
            <a:ahLst/>
            <a:cxnLst/>
            <a:rect r="r" b="b" t="t" l="l"/>
            <a:pathLst>
              <a:path h="416423" w="416423">
                <a:moveTo>
                  <a:pt x="0" y="0"/>
                </a:moveTo>
                <a:lnTo>
                  <a:pt x="416424" y="0"/>
                </a:lnTo>
                <a:lnTo>
                  <a:pt x="416424" y="416423"/>
                </a:lnTo>
                <a:lnTo>
                  <a:pt x="0" y="41642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22726" r="0" b="-22726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88269" y="3792141"/>
            <a:ext cx="3506095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LLM-as-a-Hacker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88269" y="4348763"/>
            <a:ext cx="8653462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Cung cấp phương pháp đánh giá RAG tự động bằng AI (LLM-as-a-Hacker).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79744" y="5967412"/>
            <a:ext cx="9270502" cy="3399834"/>
            <a:chOff x="0" y="0"/>
            <a:chExt cx="12360669" cy="453311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2360656" cy="4533138"/>
            </a:xfrm>
            <a:custGeom>
              <a:avLst/>
              <a:gdLst/>
              <a:ahLst/>
              <a:cxnLst/>
              <a:rect r="r" b="b" t="t" l="l"/>
              <a:pathLst>
                <a:path h="4533138" w="12360656">
                  <a:moveTo>
                    <a:pt x="0" y="61722"/>
                  </a:moveTo>
                  <a:cubicBezTo>
                    <a:pt x="0" y="27559"/>
                    <a:pt x="27559" y="0"/>
                    <a:pt x="61722" y="0"/>
                  </a:cubicBezTo>
                  <a:lnTo>
                    <a:pt x="12298934" y="0"/>
                  </a:lnTo>
                  <a:cubicBezTo>
                    <a:pt x="12332970" y="0"/>
                    <a:pt x="12360656" y="27559"/>
                    <a:pt x="12360656" y="61722"/>
                  </a:cubicBezTo>
                  <a:lnTo>
                    <a:pt x="12360656" y="4471416"/>
                  </a:lnTo>
                  <a:cubicBezTo>
                    <a:pt x="12360656" y="4505452"/>
                    <a:pt x="12333097" y="4533138"/>
                    <a:pt x="12298934" y="4533138"/>
                  </a:cubicBezTo>
                  <a:lnTo>
                    <a:pt x="61722" y="4533138"/>
                  </a:lnTo>
                  <a:cubicBezTo>
                    <a:pt x="27686" y="4533138"/>
                    <a:pt x="0" y="4505579"/>
                    <a:pt x="0" y="4471416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88269" y="6275937"/>
            <a:ext cx="925563" cy="925563"/>
            <a:chOff x="0" y="0"/>
            <a:chExt cx="1234084" cy="123408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34059" cy="1234059"/>
            </a:xfrm>
            <a:custGeom>
              <a:avLst/>
              <a:gdLst/>
              <a:ahLst/>
              <a:cxnLst/>
              <a:rect r="r" b="b" t="t" l="l"/>
              <a:pathLst>
                <a:path h="1234059" w="1234059">
                  <a:moveTo>
                    <a:pt x="0" y="617093"/>
                  </a:moveTo>
                  <a:cubicBezTo>
                    <a:pt x="0" y="276225"/>
                    <a:pt x="276225" y="0"/>
                    <a:pt x="617093" y="0"/>
                  </a:cubicBezTo>
                  <a:cubicBezTo>
                    <a:pt x="957961" y="0"/>
                    <a:pt x="1234059" y="276225"/>
                    <a:pt x="1234059" y="617093"/>
                  </a:cubicBezTo>
                  <a:cubicBezTo>
                    <a:pt x="1234059" y="957961"/>
                    <a:pt x="957834" y="1234059"/>
                    <a:pt x="617093" y="1234059"/>
                  </a:cubicBezTo>
                  <a:cubicBezTo>
                    <a:pt x="276352" y="1234059"/>
                    <a:pt x="0" y="957834"/>
                    <a:pt x="0" y="61709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1642767" y="6530426"/>
            <a:ext cx="416423" cy="416423"/>
          </a:xfrm>
          <a:custGeom>
            <a:avLst/>
            <a:gdLst/>
            <a:ahLst/>
            <a:cxnLst/>
            <a:rect r="r" b="b" t="t" l="l"/>
            <a:pathLst>
              <a:path h="416423" w="416423">
                <a:moveTo>
                  <a:pt x="0" y="0"/>
                </a:moveTo>
                <a:lnTo>
                  <a:pt x="416424" y="0"/>
                </a:lnTo>
                <a:lnTo>
                  <a:pt x="416424" y="416423"/>
                </a:lnTo>
                <a:lnTo>
                  <a:pt x="0" y="4164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-1136" t="0" r="-1134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88269" y="7500490"/>
            <a:ext cx="4638827" cy="44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Điểm mù System Prompt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8269" y="8057112"/>
            <a:ext cx="8653462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Xác định điểm mù thực sự của System Prompt trước thông tin sai lệch tinh vi.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DAHQJEzraWw</dc:identifier>
  <dcterms:modified xsi:type="dcterms:W3CDTF">2011-08-01T06:04:30Z</dcterms:modified>
  <cp:revision>1</cp:revision>
  <dc:title>AI-Guided-Semantic-Mutation-Testing-for-RAG.pptx</dc:title>
</cp:coreProperties>
</file>